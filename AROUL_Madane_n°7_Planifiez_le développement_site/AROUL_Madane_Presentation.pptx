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58" r:id="rId4"/>
    <p:sldId id="259" r:id="rId5"/>
    <p:sldId id="260" r:id="rId6"/>
    <p:sldId id="261" r:id="rId7"/>
    <p:sldId id="267" r:id="rId8"/>
    <p:sldId id="266" r:id="rId9"/>
    <p:sldId id="262" r:id="rId10"/>
    <p:sldId id="268" r:id="rId11"/>
    <p:sldId id="263" r:id="rId12"/>
    <p:sldId id="269" r:id="rId13"/>
    <p:sldId id="273" r:id="rId14"/>
    <p:sldId id="270" r:id="rId15"/>
    <p:sldId id="271" r:id="rId16"/>
    <p:sldId id="272" r:id="rId17"/>
    <p:sldId id="264" r:id="rId18"/>
    <p:sldId id="265" r:id="rId19"/>
  </p:sldIdLst>
  <p:sldSz cx="9144000" cy="5143500" type="screen16x9"/>
  <p:notesSz cx="6858000" cy="9144000"/>
  <p:embeddedFontLst>
    <p:embeddedFont>
      <p:font typeface="Montserrat" panose="00000500000000000000"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964"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2601cdab4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12601cdab4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0c4033f8d1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0c4033f8d1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0c4033f8d1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0c4033f8d1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0c4033f8d1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0c4033f8d1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1cd7bb48e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1cd7bb48e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0c4033f8d1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0c4033f8d1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18b606cc07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218b606cc07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c2bf8da8be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2c2bf8da8be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c2bf8da8be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c2bf8da8be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https://www.notion.so/18dde577b2b48047ae29d50ad8465b6d?v=2e5de577b2b480f1b9ef000cea9f8b72&amp;source=copy_link"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E5CD"/>
        </a:solidFill>
        <a:effectLst/>
      </p:bgPr>
    </p:bg>
    <p:spTree>
      <p:nvGrpSpPr>
        <p:cNvPr id="1" name="Shape 53"/>
        <p:cNvGrpSpPr/>
        <p:nvPr/>
      </p:nvGrpSpPr>
      <p:grpSpPr>
        <a:xfrm>
          <a:off x="0" y="0"/>
          <a:ext cx="0" cy="0"/>
          <a:chOff x="0" y="0"/>
          <a:chExt cx="0" cy="0"/>
        </a:xfrm>
      </p:grpSpPr>
      <p:sp>
        <p:nvSpPr>
          <p:cNvPr id="54" name="Google Shape;54;p13"/>
          <p:cNvSpPr txBox="1"/>
          <p:nvPr/>
        </p:nvSpPr>
        <p:spPr>
          <a:xfrm>
            <a:off x="2392800" y="1537500"/>
            <a:ext cx="4222200" cy="80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 sz="3500">
                <a:solidFill>
                  <a:schemeClr val="dk1"/>
                </a:solidFill>
                <a:latin typeface="Montserrat"/>
                <a:ea typeface="Montserrat"/>
                <a:cs typeface="Montserrat"/>
                <a:sym typeface="Montserrat"/>
              </a:rPr>
              <a:t>PRÉSENTATION</a:t>
            </a:r>
            <a:br>
              <a:rPr lang="fr" sz="3500">
                <a:solidFill>
                  <a:schemeClr val="dk1"/>
                </a:solidFill>
                <a:latin typeface="Montserrat"/>
                <a:ea typeface="Montserrat"/>
                <a:cs typeface="Montserrat"/>
                <a:sym typeface="Montserrat"/>
              </a:rPr>
            </a:br>
            <a:br>
              <a:rPr lang="fr" sz="3500">
                <a:solidFill>
                  <a:schemeClr val="dk1"/>
                </a:solidFill>
                <a:latin typeface="Montserrat"/>
                <a:ea typeface="Montserrat"/>
                <a:cs typeface="Montserrat"/>
                <a:sym typeface="Montserrat"/>
              </a:rPr>
            </a:br>
            <a:r>
              <a:rPr lang="fr" sz="3100" b="1">
                <a:solidFill>
                  <a:schemeClr val="dk1"/>
                </a:solidFill>
                <a:latin typeface="Montserrat"/>
                <a:ea typeface="Montserrat"/>
                <a:cs typeface="Montserrat"/>
                <a:sym typeface="Montserrat"/>
              </a:rPr>
              <a:t>Menu Maker by Qwenta</a:t>
            </a:r>
            <a:endParaRPr sz="3100" b="1">
              <a:solidFill>
                <a:schemeClr val="dk1"/>
              </a:solidFill>
              <a:latin typeface="Montserrat"/>
              <a:ea typeface="Montserrat"/>
              <a:cs typeface="Montserrat"/>
              <a:sym typeface="Montserrat"/>
            </a:endParaRPr>
          </a:p>
        </p:txBody>
      </p:sp>
      <p:sp>
        <p:nvSpPr>
          <p:cNvPr id="55" name="Google Shape;55;p13"/>
          <p:cNvSpPr txBox="1"/>
          <p:nvPr/>
        </p:nvSpPr>
        <p:spPr>
          <a:xfrm>
            <a:off x="115175" y="118275"/>
            <a:ext cx="2384700" cy="28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500">
                <a:solidFill>
                  <a:schemeClr val="dk1"/>
                </a:solidFill>
                <a:latin typeface="Montserrat"/>
                <a:ea typeface="Montserrat"/>
                <a:cs typeface="Montserrat"/>
                <a:sym typeface="Montserrat"/>
              </a:rPr>
              <a:t>AROUL </a:t>
            </a:r>
            <a:r>
              <a:rPr lang="fr" sz="1500" dirty="0">
                <a:solidFill>
                  <a:schemeClr val="dk1"/>
                </a:solidFill>
                <a:latin typeface="Montserrat"/>
                <a:ea typeface="Montserrat"/>
                <a:cs typeface="Montserrat"/>
                <a:sym typeface="Montserrat"/>
              </a:rPr>
              <a:t>Madane</a:t>
            </a:r>
            <a:br>
              <a:rPr lang="fr" sz="1500" dirty="0">
                <a:solidFill>
                  <a:schemeClr val="dk1"/>
                </a:solidFill>
                <a:latin typeface="Montserrat"/>
                <a:ea typeface="Montserrat"/>
                <a:cs typeface="Montserrat"/>
                <a:sym typeface="Montserrat"/>
              </a:rPr>
            </a:br>
            <a:r>
              <a:rPr lang="fr" sz="1500" dirty="0">
                <a:solidFill>
                  <a:schemeClr val="dk1"/>
                </a:solidFill>
                <a:latin typeface="Montserrat"/>
                <a:ea typeface="Montserrat"/>
                <a:cs typeface="Montserrat"/>
                <a:sym typeface="Montserrat"/>
              </a:rPr>
              <a:t>Date </a:t>
            </a:r>
            <a:endParaRPr sz="1500" dirty="0">
              <a:solidFill>
                <a:schemeClr val="dk1"/>
              </a:solidFill>
              <a:latin typeface="Montserrat"/>
              <a:ea typeface="Montserrat"/>
              <a:cs typeface="Montserrat"/>
              <a:sym typeface="Montserrat"/>
            </a:endParaRPr>
          </a:p>
        </p:txBody>
      </p:sp>
      <p:pic>
        <p:nvPicPr>
          <p:cNvPr id="56" name="Google Shape;56;p13"/>
          <p:cNvPicPr preferRelativeResize="0"/>
          <p:nvPr/>
        </p:nvPicPr>
        <p:blipFill>
          <a:blip r:embed="rId3">
            <a:alphaModFix/>
          </a:blip>
          <a:stretch>
            <a:fillRect/>
          </a:stretch>
        </p:blipFill>
        <p:spPr>
          <a:xfrm>
            <a:off x="8469575" y="0"/>
            <a:ext cx="674425" cy="3405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b="1" dirty="0">
                <a:latin typeface="Montserrat"/>
                <a:ea typeface="Montserrat"/>
                <a:cs typeface="Montserrat"/>
                <a:sym typeface="Montserrat"/>
              </a:rPr>
              <a:t>Sommaire</a:t>
            </a:r>
            <a:endParaRPr b="1" dirty="0">
              <a:latin typeface="Montserrat"/>
              <a:ea typeface="Montserrat"/>
              <a:cs typeface="Montserrat"/>
              <a:sym typeface="Montserrat"/>
            </a:endParaRPr>
          </a:p>
        </p:txBody>
      </p:sp>
      <p:sp>
        <p:nvSpPr>
          <p:cNvPr id="62" name="Google Shape;62;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36550" algn="l" rtl="0">
              <a:lnSpc>
                <a:spcPct val="150000"/>
              </a:lnSpc>
              <a:spcBef>
                <a:spcPts val="1500"/>
              </a:spcBef>
              <a:spcAft>
                <a:spcPts val="0"/>
              </a:spcAft>
              <a:buClr>
                <a:srgbClr val="0D0D0D"/>
              </a:buClr>
              <a:buSzPts val="1700"/>
              <a:buFont typeface="Montserrat"/>
              <a:buAutoNum type="arabicPeriod"/>
            </a:pPr>
            <a:r>
              <a:rPr lang="fr" sz="1700" dirty="0">
                <a:solidFill>
                  <a:srgbClr val="0D0D0D"/>
                </a:solidFill>
                <a:highlight>
                  <a:srgbClr val="FFFFFF"/>
                </a:highlight>
                <a:latin typeface="Montserrat"/>
                <a:ea typeface="Montserrat"/>
                <a:cs typeface="Montserrat"/>
                <a:sym typeface="Montserrat"/>
              </a:rPr>
              <a:t>Contexte du projet</a:t>
            </a:r>
            <a:endParaRPr sz="1700" dirty="0">
              <a:solidFill>
                <a:srgbClr val="0D0D0D"/>
              </a:solidFill>
              <a:highlight>
                <a:srgbClr val="FFFFFF"/>
              </a:highlight>
              <a:latin typeface="Montserrat"/>
              <a:ea typeface="Montserrat"/>
              <a:cs typeface="Montserrat"/>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fr" sz="1700" dirty="0">
                <a:solidFill>
                  <a:srgbClr val="0D0D0D"/>
                </a:solidFill>
                <a:highlight>
                  <a:srgbClr val="FFFFFF"/>
                </a:highlight>
                <a:latin typeface="Montserrat"/>
                <a:ea typeface="Montserrat"/>
                <a:cs typeface="Montserrat"/>
                <a:sym typeface="Montserrat"/>
              </a:rPr>
              <a:t>Aperçu de la maquette</a:t>
            </a:r>
            <a:endParaRPr sz="1700" dirty="0">
              <a:solidFill>
                <a:srgbClr val="0D0D0D"/>
              </a:solidFill>
              <a:highlight>
                <a:srgbClr val="FFFFFF"/>
              </a:highlight>
              <a:latin typeface="Montserrat"/>
              <a:ea typeface="Montserrat"/>
              <a:cs typeface="Montserrat"/>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fr" sz="1700" dirty="0">
                <a:solidFill>
                  <a:srgbClr val="0D0D0D"/>
                </a:solidFill>
                <a:highlight>
                  <a:srgbClr val="FFFFFF"/>
                </a:highlight>
                <a:latin typeface="Montserrat"/>
                <a:ea typeface="Montserrat"/>
                <a:cs typeface="Montserrat"/>
                <a:sym typeface="Montserrat"/>
              </a:rPr>
              <a:t>Méthodologie utilisée</a:t>
            </a:r>
            <a:endParaRPr sz="1700" dirty="0">
              <a:solidFill>
                <a:srgbClr val="0D0D0D"/>
              </a:solidFill>
              <a:highlight>
                <a:srgbClr val="FFFFFF"/>
              </a:highlight>
              <a:latin typeface="Montserrat"/>
              <a:ea typeface="Montserrat"/>
              <a:cs typeface="Montserrat"/>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fr" sz="1700" dirty="0">
                <a:solidFill>
                  <a:srgbClr val="0D0D0D"/>
                </a:solidFill>
                <a:highlight>
                  <a:srgbClr val="FFFFFF"/>
                </a:highlight>
                <a:latin typeface="Montserrat"/>
                <a:ea typeface="Montserrat"/>
                <a:cs typeface="Montserrat"/>
                <a:sym typeface="Montserrat"/>
              </a:rPr>
              <a:t>Tableau Kanban</a:t>
            </a:r>
            <a:endParaRPr sz="1700" dirty="0">
              <a:solidFill>
                <a:srgbClr val="0D0D0D"/>
              </a:solidFill>
              <a:highlight>
                <a:srgbClr val="FFFFFF"/>
              </a:highlight>
              <a:latin typeface="Montserrat"/>
              <a:ea typeface="Montserrat"/>
              <a:cs typeface="Montserrat"/>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fr" sz="1700" dirty="0">
                <a:solidFill>
                  <a:srgbClr val="0D0D0D"/>
                </a:solidFill>
                <a:highlight>
                  <a:srgbClr val="FFFFFF"/>
                </a:highlight>
                <a:latin typeface="Montserrat"/>
                <a:ea typeface="Montserrat"/>
                <a:cs typeface="Montserrat"/>
                <a:sym typeface="Montserrat"/>
              </a:rPr>
              <a:t>Spécifications techniques</a:t>
            </a:r>
            <a:endParaRPr sz="1700" dirty="0">
              <a:solidFill>
                <a:srgbClr val="0D0D0D"/>
              </a:solidFill>
              <a:highlight>
                <a:srgbClr val="FFFFFF"/>
              </a:highlight>
              <a:latin typeface="Montserrat"/>
              <a:ea typeface="Montserrat"/>
              <a:cs typeface="Montserrat"/>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fr" sz="1700" dirty="0">
                <a:solidFill>
                  <a:srgbClr val="0D0D0D"/>
                </a:solidFill>
                <a:highlight>
                  <a:srgbClr val="FFFFFF"/>
                </a:highlight>
                <a:latin typeface="Montserrat"/>
                <a:ea typeface="Montserrat"/>
                <a:cs typeface="Montserrat"/>
                <a:sym typeface="Montserrat"/>
              </a:rPr>
              <a:t>Veille technologique</a:t>
            </a:r>
            <a:endParaRPr sz="1700" dirty="0">
              <a:solidFill>
                <a:srgbClr val="0D0D0D"/>
              </a:solidFill>
              <a:highlight>
                <a:srgbClr val="FFFFFF"/>
              </a:highlight>
              <a:latin typeface="Montserrat"/>
              <a:ea typeface="Montserrat"/>
              <a:cs typeface="Montserrat"/>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fr" sz="1700" dirty="0">
                <a:solidFill>
                  <a:srgbClr val="0D0D0D"/>
                </a:solidFill>
                <a:highlight>
                  <a:srgbClr val="FFFFFF"/>
                </a:highlight>
                <a:latin typeface="Montserrat"/>
                <a:ea typeface="Montserrat"/>
                <a:cs typeface="Montserrat"/>
                <a:sym typeface="Montserrat"/>
              </a:rPr>
              <a:t>Conclusion </a:t>
            </a:r>
            <a:endParaRPr sz="1700" dirty="0">
              <a:solidFill>
                <a:srgbClr val="0D0D0D"/>
              </a:solidFill>
              <a:highlight>
                <a:srgbClr val="FFFFFF"/>
              </a:highlight>
              <a:latin typeface="Montserrat"/>
              <a:ea typeface="Montserrat"/>
              <a:cs typeface="Montserrat"/>
              <a:sym typeface="Montserrat"/>
            </a:endParaRPr>
          </a:p>
          <a:p>
            <a:pPr marL="457200" lvl="0" indent="-336550" algn="l" rtl="0">
              <a:lnSpc>
                <a:spcPct val="150000"/>
              </a:lnSpc>
              <a:spcBef>
                <a:spcPts val="0"/>
              </a:spcBef>
              <a:spcAft>
                <a:spcPts val="0"/>
              </a:spcAft>
              <a:buClr>
                <a:srgbClr val="0D0D0D"/>
              </a:buClr>
              <a:buSzPts val="1700"/>
              <a:buFont typeface="Montserrat"/>
              <a:buAutoNum type="arabicPeriod"/>
            </a:pPr>
            <a:r>
              <a:rPr lang="fr" sz="1700" dirty="0">
                <a:solidFill>
                  <a:srgbClr val="0D0D0D"/>
                </a:solidFill>
                <a:highlight>
                  <a:srgbClr val="FFFFFF"/>
                </a:highlight>
                <a:latin typeface="Montserrat"/>
                <a:ea typeface="Montserrat"/>
                <a:cs typeface="Montserrat"/>
                <a:sym typeface="Montserrat"/>
              </a:rPr>
              <a:t>Questions</a:t>
            </a:r>
            <a:endParaRPr sz="1700" dirty="0">
              <a:solidFill>
                <a:srgbClr val="0D0D0D"/>
              </a:solidFill>
              <a:highlight>
                <a:srgbClr val="FFFFFF"/>
              </a:highlight>
              <a:latin typeface="Montserrat"/>
              <a:ea typeface="Montserrat"/>
              <a:cs typeface="Montserrat"/>
              <a:sym typeface="Montserrat"/>
            </a:endParaRPr>
          </a:p>
          <a:p>
            <a:pPr marL="457200" lvl="0" indent="0" algn="l" rtl="0">
              <a:spcBef>
                <a:spcPts val="0"/>
              </a:spcBef>
              <a:spcAft>
                <a:spcPts val="0"/>
              </a:spcAft>
              <a:buNone/>
            </a:pPr>
            <a:endParaRPr sz="1200" dirty="0">
              <a:solidFill>
                <a:schemeClr val="dk1"/>
              </a:solidFill>
              <a:highlight>
                <a:srgbClr val="FFFFFF"/>
              </a:highlight>
              <a:latin typeface="Montserrat"/>
              <a:ea typeface="Montserrat"/>
              <a:cs typeface="Montserrat"/>
              <a:sym typeface="Montserrat"/>
            </a:endParaRPr>
          </a:p>
        </p:txBody>
      </p:sp>
      <p:pic>
        <p:nvPicPr>
          <p:cNvPr id="63" name="Google Shape;63;p14"/>
          <p:cNvPicPr preferRelativeResize="0"/>
          <p:nvPr/>
        </p:nvPicPr>
        <p:blipFill>
          <a:blip r:embed="rId3">
            <a:alphaModFix/>
          </a:blip>
          <a:stretch>
            <a:fillRect/>
          </a:stretch>
        </p:blipFill>
        <p:spPr>
          <a:xfrm>
            <a:off x="8469575" y="-4"/>
            <a:ext cx="674425" cy="3405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469525" y="355218"/>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fr" sz="2000" b="1" dirty="0">
                <a:latin typeface="Montserrat"/>
                <a:ea typeface="Montserrat"/>
                <a:cs typeface="Montserrat"/>
                <a:sym typeface="Montserrat"/>
              </a:rPr>
              <a:t>Contexte du Projet</a:t>
            </a:r>
            <a:endParaRPr sz="3400" b="1" dirty="0">
              <a:latin typeface="Montserrat"/>
              <a:ea typeface="Montserrat"/>
              <a:cs typeface="Montserrat"/>
              <a:sym typeface="Montserrat"/>
            </a:endParaRPr>
          </a:p>
        </p:txBody>
      </p:sp>
      <p:sp>
        <p:nvSpPr>
          <p:cNvPr id="69" name="Google Shape;69;p15"/>
          <p:cNvSpPr txBox="1"/>
          <p:nvPr/>
        </p:nvSpPr>
        <p:spPr>
          <a:xfrm>
            <a:off x="153875" y="927918"/>
            <a:ext cx="8320500" cy="4323461"/>
          </a:xfrm>
          <a:prstGeom prst="rect">
            <a:avLst/>
          </a:prstGeom>
          <a:noFill/>
          <a:ln>
            <a:noFill/>
          </a:ln>
        </p:spPr>
        <p:txBody>
          <a:bodyPr spcFirstLastPara="1" wrap="square" lIns="91425" tIns="91425" rIns="91425" bIns="91425" anchor="t" anchorCtr="0">
            <a:spAutoFit/>
          </a:bodyPr>
          <a:lstStyle/>
          <a:p>
            <a:pPr marL="457200" lvl="0" indent="-323850" algn="l" rtl="0">
              <a:lnSpc>
                <a:spcPct val="115000"/>
              </a:lnSpc>
              <a:spcBef>
                <a:spcPts val="0"/>
              </a:spcBef>
              <a:spcAft>
                <a:spcPts val="0"/>
              </a:spcAft>
              <a:buClr>
                <a:schemeClr val="dk1"/>
              </a:buClr>
              <a:buSzPts val="1500"/>
              <a:buFont typeface="Montserrat"/>
              <a:buChar char="●"/>
            </a:pPr>
            <a:r>
              <a:rPr lang="fr-FR" sz="1500" i="1" dirty="0" err="1">
                <a:solidFill>
                  <a:schemeClr val="dk1"/>
                </a:solidFill>
                <a:latin typeface="Montserrat"/>
                <a:ea typeface="Montserrat"/>
                <a:cs typeface="Montserrat"/>
                <a:sym typeface="Montserrat"/>
              </a:rPr>
              <a:t>Qwenta</a:t>
            </a:r>
            <a:r>
              <a:rPr lang="fr-FR" sz="1500" i="1" dirty="0">
                <a:solidFill>
                  <a:schemeClr val="dk1"/>
                </a:solidFill>
                <a:latin typeface="Montserrat"/>
                <a:ea typeface="Montserrat"/>
                <a:cs typeface="Montserrat"/>
                <a:sym typeface="Montserrat"/>
              </a:rPr>
              <a:t> est un client de l’agence </a:t>
            </a:r>
            <a:r>
              <a:rPr lang="fr-FR" sz="1500" i="1" dirty="0" err="1">
                <a:solidFill>
                  <a:schemeClr val="dk1"/>
                </a:solidFill>
                <a:latin typeface="Montserrat"/>
                <a:ea typeface="Montserrat"/>
                <a:cs typeface="Montserrat"/>
                <a:sym typeface="Montserrat"/>
              </a:rPr>
              <a:t>Webgencia</a:t>
            </a:r>
            <a:r>
              <a:rPr lang="fr-FR" sz="1500" i="1" dirty="0">
                <a:solidFill>
                  <a:schemeClr val="dk1"/>
                </a:solidFill>
                <a:latin typeface="Montserrat"/>
                <a:ea typeface="Montserrat"/>
                <a:cs typeface="Montserrat"/>
                <a:sym typeface="Montserrat"/>
              </a:rPr>
              <a:t> qui souhaite développer un outil appelé Menu Maker. Ce site a pour objectif de permettre aux restaurateurs de créer, gérer et mettre en forme leurs menus facilement, sans compétences techniques particulières. Le projet s’inscrit dans une logique de digitalisation des restaurants, en leur offrant une solution simple, rapide et moderne pour présenter leurs menus en ligne.</a:t>
            </a:r>
          </a:p>
          <a:p>
            <a:pPr marL="457200" lvl="0" indent="-323850" algn="l" rtl="0">
              <a:lnSpc>
                <a:spcPct val="115000"/>
              </a:lnSpc>
              <a:spcBef>
                <a:spcPts val="0"/>
              </a:spcBef>
              <a:spcAft>
                <a:spcPts val="0"/>
              </a:spcAft>
              <a:buClr>
                <a:schemeClr val="dk1"/>
              </a:buClr>
              <a:buSzPts val="1500"/>
              <a:buFont typeface="Montserrat"/>
              <a:buChar char="●"/>
            </a:pPr>
            <a:endParaRPr lang="fr-FR" sz="1500" i="1" dirty="0">
              <a:solidFill>
                <a:schemeClr val="dk1"/>
              </a:solidFill>
              <a:latin typeface="Montserrat"/>
              <a:ea typeface="Montserrat"/>
              <a:cs typeface="Montserrat"/>
              <a:sym typeface="Montserrat"/>
            </a:endParaRPr>
          </a:p>
          <a:p>
            <a:pPr marL="133350" lvl="0" algn="l" rtl="0">
              <a:lnSpc>
                <a:spcPct val="115000"/>
              </a:lnSpc>
              <a:spcBef>
                <a:spcPts val="0"/>
              </a:spcBef>
              <a:spcAft>
                <a:spcPts val="0"/>
              </a:spcAft>
              <a:buClr>
                <a:schemeClr val="dk1"/>
              </a:buClr>
              <a:buSzPts val="1500"/>
            </a:pPr>
            <a:r>
              <a:rPr lang="fr-FR" sz="1800" i="1" dirty="0">
                <a:solidFill>
                  <a:schemeClr val="dk1"/>
                </a:solidFill>
                <a:latin typeface="Montserrat"/>
                <a:ea typeface="Montserrat"/>
                <a:cs typeface="Montserrat"/>
                <a:sym typeface="Montserrat"/>
              </a:rPr>
              <a:t>Objectifs : </a:t>
            </a:r>
          </a:p>
          <a:p>
            <a:pPr marL="457200" lvl="0" indent="-323850" algn="l" rtl="0">
              <a:lnSpc>
                <a:spcPct val="115000"/>
              </a:lnSpc>
              <a:spcBef>
                <a:spcPts val="0"/>
              </a:spcBef>
              <a:spcAft>
                <a:spcPts val="0"/>
              </a:spcAft>
              <a:buClr>
                <a:schemeClr val="dk1"/>
              </a:buClr>
              <a:buSzPts val="1500"/>
              <a:buFont typeface="Montserrat"/>
              <a:buChar char="●"/>
            </a:pPr>
            <a:endParaRPr lang="fr-FR" sz="1500" i="1" dirty="0">
              <a:solidFill>
                <a:schemeClr val="dk1"/>
              </a:solidFill>
              <a:latin typeface="Montserrat"/>
              <a:ea typeface="Montserrat"/>
              <a:cs typeface="Montserrat"/>
              <a:sym typeface="Montserrat"/>
            </a:endParaRPr>
          </a:p>
          <a:p>
            <a:pPr marL="457200" lvl="0" indent="-323850" algn="l" rtl="0">
              <a:lnSpc>
                <a:spcPct val="115000"/>
              </a:lnSpc>
              <a:spcBef>
                <a:spcPts val="0"/>
              </a:spcBef>
              <a:spcAft>
                <a:spcPts val="0"/>
              </a:spcAft>
              <a:buClr>
                <a:schemeClr val="dk1"/>
              </a:buClr>
              <a:buSzPts val="1500"/>
              <a:buFont typeface="Montserrat"/>
              <a:buChar char="●"/>
            </a:pPr>
            <a:r>
              <a:rPr lang="fr-FR" sz="1500" i="1" dirty="0">
                <a:solidFill>
                  <a:schemeClr val="dk1"/>
                </a:solidFill>
                <a:latin typeface="Montserrat"/>
                <a:ea typeface="Montserrat"/>
                <a:cs typeface="Montserrat"/>
                <a:sym typeface="Montserrat"/>
              </a:rPr>
              <a:t>Offrir une interface claire, intuitive et responsive</a:t>
            </a:r>
          </a:p>
          <a:p>
            <a:pPr marL="457200" lvl="0" indent="-323850" algn="l" rtl="0">
              <a:lnSpc>
                <a:spcPct val="115000"/>
              </a:lnSpc>
              <a:spcBef>
                <a:spcPts val="0"/>
              </a:spcBef>
              <a:spcAft>
                <a:spcPts val="0"/>
              </a:spcAft>
              <a:buClr>
                <a:schemeClr val="dk1"/>
              </a:buClr>
              <a:buSzPts val="1500"/>
              <a:buFont typeface="Montserrat"/>
              <a:buChar char="●"/>
            </a:pPr>
            <a:r>
              <a:rPr lang="fr-FR" sz="1500" i="1" dirty="0">
                <a:solidFill>
                  <a:schemeClr val="dk1"/>
                </a:solidFill>
                <a:latin typeface="Montserrat"/>
                <a:ea typeface="Montserrat"/>
                <a:cs typeface="Montserrat"/>
                <a:sym typeface="Montserrat"/>
              </a:rPr>
              <a:t>Possibilité d’exporter les menus en PDF</a:t>
            </a:r>
          </a:p>
          <a:p>
            <a:pPr marL="457200" lvl="0" indent="-323850" algn="l" rtl="0">
              <a:lnSpc>
                <a:spcPct val="115000"/>
              </a:lnSpc>
              <a:spcBef>
                <a:spcPts val="0"/>
              </a:spcBef>
              <a:spcAft>
                <a:spcPts val="0"/>
              </a:spcAft>
              <a:buClr>
                <a:schemeClr val="dk1"/>
              </a:buClr>
              <a:buSzPts val="1500"/>
              <a:buFont typeface="Montserrat"/>
              <a:buChar char="●"/>
            </a:pPr>
            <a:r>
              <a:rPr lang="fr-FR" sz="1500" i="1" dirty="0">
                <a:solidFill>
                  <a:schemeClr val="dk1"/>
                </a:solidFill>
                <a:latin typeface="Montserrat"/>
                <a:ea typeface="Montserrat"/>
                <a:cs typeface="Montserrat"/>
                <a:sym typeface="Montserrat"/>
              </a:rPr>
              <a:t>Préparer une architecture technique scalable et sécurisée</a:t>
            </a:r>
          </a:p>
          <a:p>
            <a:pPr marL="133350" lvl="0" algn="l" rtl="0">
              <a:lnSpc>
                <a:spcPct val="115000"/>
              </a:lnSpc>
              <a:spcBef>
                <a:spcPts val="0"/>
              </a:spcBef>
              <a:spcAft>
                <a:spcPts val="0"/>
              </a:spcAft>
              <a:buClr>
                <a:schemeClr val="dk1"/>
              </a:buClr>
              <a:buSzPts val="1500"/>
            </a:pPr>
            <a:endParaRPr lang="fr-FR" sz="1500" i="1" dirty="0">
              <a:solidFill>
                <a:schemeClr val="dk1"/>
              </a:solidFill>
              <a:latin typeface="Montserrat"/>
              <a:ea typeface="Montserrat"/>
              <a:cs typeface="Montserrat"/>
              <a:sym typeface="Montserrat"/>
            </a:endParaRPr>
          </a:p>
          <a:p>
            <a:pPr marL="457200" lvl="0" indent="-323850" algn="l" rtl="0">
              <a:lnSpc>
                <a:spcPct val="115000"/>
              </a:lnSpc>
              <a:spcBef>
                <a:spcPts val="0"/>
              </a:spcBef>
              <a:spcAft>
                <a:spcPts val="0"/>
              </a:spcAft>
              <a:buClr>
                <a:schemeClr val="dk1"/>
              </a:buClr>
              <a:buSzPts val="1500"/>
              <a:buFont typeface="Montserrat"/>
              <a:buChar char="●"/>
            </a:pPr>
            <a:endParaRPr sz="1500" i="1" dirty="0">
              <a:solidFill>
                <a:schemeClr val="dk1"/>
              </a:solidFill>
              <a:latin typeface="Montserrat"/>
              <a:ea typeface="Montserrat"/>
              <a:cs typeface="Montserrat"/>
              <a:sym typeface="Montserrat"/>
            </a:endParaRPr>
          </a:p>
          <a:p>
            <a:pPr marL="0" lvl="0" indent="0" algn="l" rtl="0">
              <a:spcBef>
                <a:spcPts val="1200"/>
              </a:spcBef>
              <a:spcAft>
                <a:spcPts val="0"/>
              </a:spcAft>
              <a:buNone/>
            </a:pPr>
            <a:endParaRPr dirty="0"/>
          </a:p>
        </p:txBody>
      </p:sp>
      <p:sp>
        <p:nvSpPr>
          <p:cNvPr id="70" name="Google Shape;70;p15"/>
          <p:cNvSpPr/>
          <p:nvPr/>
        </p:nvSpPr>
        <p:spPr>
          <a:xfrm>
            <a:off x="-4800" y="0"/>
            <a:ext cx="9153600" cy="239700"/>
          </a:xfrm>
          <a:prstGeom prst="rect">
            <a:avLst/>
          </a:prstGeom>
          <a:solidFill>
            <a:srgbClr val="FCE5CD"/>
          </a:solidFill>
          <a:ln w="9525" cap="flat" cmpd="sng">
            <a:solidFill>
              <a:srgbClr val="F7E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1" name="Google Shape;71;p15"/>
          <p:cNvPicPr preferRelativeResize="0"/>
          <p:nvPr/>
        </p:nvPicPr>
        <p:blipFill>
          <a:blip r:embed="rId3">
            <a:alphaModFix/>
          </a:blip>
          <a:stretch>
            <a:fillRect/>
          </a:stretch>
        </p:blipFill>
        <p:spPr>
          <a:xfrm>
            <a:off x="8474375" y="-4"/>
            <a:ext cx="674425" cy="340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fr" sz="2020" b="1" dirty="0">
                <a:latin typeface="Montserrat"/>
                <a:ea typeface="Montserrat"/>
                <a:cs typeface="Montserrat"/>
                <a:sym typeface="Montserrat"/>
              </a:rPr>
              <a:t>Aperçu de la maquette</a:t>
            </a:r>
            <a:endParaRPr sz="2020" b="1" dirty="0">
              <a:latin typeface="Montserrat"/>
              <a:ea typeface="Montserrat"/>
              <a:cs typeface="Montserrat"/>
              <a:sym typeface="Montserrat"/>
            </a:endParaRPr>
          </a:p>
          <a:p>
            <a:pPr marL="0" lvl="0" indent="0" algn="l" rtl="0">
              <a:lnSpc>
                <a:spcPct val="115000"/>
              </a:lnSpc>
              <a:spcBef>
                <a:spcPts val="1200"/>
              </a:spcBef>
              <a:spcAft>
                <a:spcPts val="1200"/>
              </a:spcAft>
              <a:buSzPts val="990"/>
              <a:buNone/>
            </a:pPr>
            <a:endParaRPr sz="1820" dirty="0">
              <a:solidFill>
                <a:schemeClr val="dk2"/>
              </a:solidFill>
              <a:latin typeface="Montserrat"/>
              <a:ea typeface="Montserrat"/>
              <a:cs typeface="Montserrat"/>
              <a:sym typeface="Montserrat"/>
            </a:endParaRPr>
          </a:p>
        </p:txBody>
      </p:sp>
      <p:sp>
        <p:nvSpPr>
          <p:cNvPr id="77" name="Google Shape;77;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33350" lvl="0" indent="0" algn="l" rtl="0">
              <a:lnSpc>
                <a:spcPct val="150000"/>
              </a:lnSpc>
              <a:spcBef>
                <a:spcPts val="0"/>
              </a:spcBef>
              <a:spcAft>
                <a:spcPts val="0"/>
              </a:spcAft>
              <a:buClr>
                <a:srgbClr val="0D0D0D"/>
              </a:buClr>
              <a:buSzPts val="1500"/>
              <a:buNone/>
            </a:pPr>
            <a:endParaRPr sz="1500" i="1" dirty="0">
              <a:solidFill>
                <a:srgbClr val="0D0D0D"/>
              </a:solidFill>
              <a:highlight>
                <a:srgbClr val="FFFFFF"/>
              </a:highlight>
              <a:latin typeface="Montserrat"/>
              <a:ea typeface="Montserrat"/>
              <a:cs typeface="Montserrat"/>
              <a:sym typeface="Montserrat"/>
            </a:endParaRPr>
          </a:p>
          <a:p>
            <a:pPr marL="0" lvl="0" indent="0" algn="l" rtl="0">
              <a:spcBef>
                <a:spcPts val="0"/>
              </a:spcBef>
              <a:spcAft>
                <a:spcPts val="0"/>
              </a:spcAft>
              <a:buNone/>
            </a:pPr>
            <a:endParaRPr dirty="0">
              <a:latin typeface="Montserrat"/>
              <a:ea typeface="Montserrat"/>
              <a:cs typeface="Montserrat"/>
              <a:sym typeface="Montserrat"/>
            </a:endParaRPr>
          </a:p>
          <a:p>
            <a:pPr marL="457200" lvl="0" indent="0" algn="l" rtl="0">
              <a:spcBef>
                <a:spcPts val="1200"/>
              </a:spcBef>
              <a:spcAft>
                <a:spcPts val="1200"/>
              </a:spcAft>
              <a:buNone/>
            </a:pPr>
            <a:endParaRPr dirty="0">
              <a:latin typeface="Montserrat"/>
              <a:ea typeface="Montserrat"/>
              <a:cs typeface="Montserrat"/>
              <a:sym typeface="Montserrat"/>
            </a:endParaRPr>
          </a:p>
        </p:txBody>
      </p:sp>
      <p:sp>
        <p:nvSpPr>
          <p:cNvPr id="78" name="Google Shape;78;p16"/>
          <p:cNvSpPr/>
          <p:nvPr/>
        </p:nvSpPr>
        <p:spPr>
          <a:xfrm>
            <a:off x="-4800" y="0"/>
            <a:ext cx="9153600" cy="239700"/>
          </a:xfrm>
          <a:prstGeom prst="rect">
            <a:avLst/>
          </a:prstGeom>
          <a:solidFill>
            <a:srgbClr val="FCE5CD"/>
          </a:solidFill>
          <a:ln w="9525" cap="flat" cmpd="sng">
            <a:solidFill>
              <a:srgbClr val="F7E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9" name="Google Shape;79;p16"/>
          <p:cNvPicPr preferRelativeResize="0"/>
          <p:nvPr/>
        </p:nvPicPr>
        <p:blipFill>
          <a:blip r:embed="rId3">
            <a:alphaModFix/>
          </a:blip>
          <a:stretch>
            <a:fillRect/>
          </a:stretch>
        </p:blipFill>
        <p:spPr>
          <a:xfrm>
            <a:off x="8469575" y="-4"/>
            <a:ext cx="674425" cy="340550"/>
          </a:xfrm>
          <a:prstGeom prst="rect">
            <a:avLst/>
          </a:prstGeom>
          <a:noFill/>
          <a:ln>
            <a:noFill/>
          </a:ln>
        </p:spPr>
      </p:pic>
      <p:pic>
        <p:nvPicPr>
          <p:cNvPr id="3" name="Image 2">
            <a:extLst>
              <a:ext uri="{FF2B5EF4-FFF2-40B4-BE49-F238E27FC236}">
                <a16:creationId xmlns:a16="http://schemas.microsoft.com/office/drawing/2014/main" id="{64FD1617-94DB-CEEE-0FEA-E312180AE687}"/>
              </a:ext>
            </a:extLst>
          </p:cNvPr>
          <p:cNvPicPr>
            <a:picLocks noChangeAspect="1"/>
          </p:cNvPicPr>
          <p:nvPr/>
        </p:nvPicPr>
        <p:blipFill>
          <a:blip r:embed="rId4"/>
          <a:stretch>
            <a:fillRect/>
          </a:stretch>
        </p:blipFill>
        <p:spPr>
          <a:xfrm>
            <a:off x="187618" y="782097"/>
            <a:ext cx="6466274" cy="43614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fr-FR" sz="3000" b="1" dirty="0">
                <a:latin typeface="Montserrat"/>
                <a:ea typeface="Montserrat"/>
                <a:cs typeface="Montserrat"/>
                <a:sym typeface="Montserrat"/>
              </a:rPr>
              <a:t>Méthodologie utilisée : Agile </a:t>
            </a:r>
            <a:endParaRPr sz="3000" b="1" dirty="0">
              <a:latin typeface="Montserrat"/>
              <a:ea typeface="Montserrat"/>
              <a:cs typeface="Montserrat"/>
              <a:sym typeface="Montserrat"/>
            </a:endParaRPr>
          </a:p>
        </p:txBody>
      </p:sp>
      <p:sp>
        <p:nvSpPr>
          <p:cNvPr id="85" name="Google Shape;85;p17"/>
          <p:cNvSpPr txBox="1">
            <a:spLocks noGrp="1"/>
          </p:cNvSpPr>
          <p:nvPr>
            <p:ph type="body" idx="1"/>
          </p:nvPr>
        </p:nvSpPr>
        <p:spPr>
          <a:xfrm>
            <a:off x="311700" y="1152475"/>
            <a:ext cx="8520600" cy="3721604"/>
          </a:xfrm>
          <a:prstGeom prst="rect">
            <a:avLst/>
          </a:prstGeom>
        </p:spPr>
        <p:txBody>
          <a:bodyPr spcFirstLastPara="1" wrap="square" lIns="91425" tIns="91425" rIns="91425" bIns="91425" anchor="t" anchorCtr="0">
            <a:normAutofit fontScale="25000" lnSpcReduction="20000"/>
          </a:bodyPr>
          <a:lstStyle/>
          <a:p>
            <a:pPr marL="0" lvl="0" indent="0" algn="l" rtl="0">
              <a:spcBef>
                <a:spcPts val="0"/>
              </a:spcBef>
              <a:spcAft>
                <a:spcPts val="0"/>
              </a:spcAft>
              <a:buNone/>
            </a:pPr>
            <a:r>
              <a:rPr lang="fr-FR" sz="5600" b="1" dirty="0">
                <a:latin typeface="Montserrat"/>
                <a:ea typeface="Montserrat"/>
                <a:cs typeface="Montserrat"/>
                <a:sym typeface="Montserrat"/>
              </a:rPr>
              <a:t>Présentation de la méthodologie :</a:t>
            </a:r>
          </a:p>
          <a:p>
            <a:pPr marL="0" lvl="0" indent="0" algn="l" rtl="0">
              <a:spcBef>
                <a:spcPts val="0"/>
              </a:spcBef>
              <a:spcAft>
                <a:spcPts val="0"/>
              </a:spcAft>
              <a:buNone/>
            </a:pPr>
            <a:r>
              <a:rPr lang="fr-FR" sz="4800" dirty="0">
                <a:latin typeface="Montserrat"/>
                <a:ea typeface="Montserrat"/>
                <a:cs typeface="Montserrat"/>
                <a:sym typeface="Montserrat"/>
              </a:rPr>
              <a:t>Le projet Menu Maker by </a:t>
            </a:r>
            <a:r>
              <a:rPr lang="fr-FR" sz="4800" dirty="0" err="1">
                <a:latin typeface="Montserrat"/>
                <a:ea typeface="Montserrat"/>
                <a:cs typeface="Montserrat"/>
                <a:sym typeface="Montserrat"/>
              </a:rPr>
              <a:t>Qwenta</a:t>
            </a:r>
            <a:r>
              <a:rPr lang="fr-FR" sz="4800" dirty="0">
                <a:latin typeface="Montserrat"/>
                <a:ea typeface="Montserrat"/>
                <a:cs typeface="Montserrat"/>
                <a:sym typeface="Montserrat"/>
              </a:rPr>
              <a:t> est organisé selon une méthodologie Agile, et plus précisément le cadre Scrum.</a:t>
            </a:r>
          </a:p>
          <a:p>
            <a:pPr marL="0" lvl="0" indent="0" algn="l" rtl="0">
              <a:spcBef>
                <a:spcPts val="0"/>
              </a:spcBef>
              <a:spcAft>
                <a:spcPts val="0"/>
              </a:spcAft>
              <a:buNone/>
            </a:pPr>
            <a:r>
              <a:rPr lang="fr-FR" sz="4800" dirty="0">
                <a:latin typeface="Montserrat"/>
                <a:ea typeface="Montserrat"/>
                <a:cs typeface="Montserrat"/>
                <a:sym typeface="Montserrat"/>
              </a:rPr>
              <a:t>Cette approche repose sur un développement qui permet d’adapter le produit en continu selon les besoins et les retours.</a:t>
            </a:r>
          </a:p>
          <a:p>
            <a:pPr marL="0" lvl="0" indent="0" algn="l" rtl="0">
              <a:spcBef>
                <a:spcPts val="0"/>
              </a:spcBef>
              <a:spcAft>
                <a:spcPts val="0"/>
              </a:spcAft>
              <a:buNone/>
            </a:pPr>
            <a:r>
              <a:rPr lang="fr-FR" sz="4800" dirty="0">
                <a:latin typeface="Montserrat"/>
                <a:ea typeface="Montserrat"/>
                <a:cs typeface="Montserrat"/>
                <a:sym typeface="Montserrat"/>
              </a:rPr>
              <a:t>Le travail est découpé en sprints, chacun livrant une partie fonctionnelle du produit.</a:t>
            </a:r>
          </a:p>
          <a:p>
            <a:pPr marL="0" lvl="0" indent="0" algn="l" rtl="0">
              <a:spcBef>
                <a:spcPts val="0"/>
              </a:spcBef>
              <a:spcAft>
                <a:spcPts val="0"/>
              </a:spcAft>
              <a:buNone/>
            </a:pPr>
            <a:r>
              <a:rPr lang="fr-FR" sz="4800" dirty="0">
                <a:latin typeface="Montserrat"/>
                <a:ea typeface="Montserrat"/>
                <a:cs typeface="Montserrat"/>
                <a:sym typeface="Montserrat"/>
              </a:rPr>
              <a:t>Organisation en sprints</a:t>
            </a:r>
          </a:p>
          <a:p>
            <a:pPr marL="0" lvl="0" indent="0" algn="l" rtl="0">
              <a:spcBef>
                <a:spcPts val="0"/>
              </a:spcBef>
              <a:spcAft>
                <a:spcPts val="0"/>
              </a:spcAft>
              <a:buNone/>
            </a:pPr>
            <a:r>
              <a:rPr lang="fr-FR" sz="4800" dirty="0">
                <a:latin typeface="Montserrat"/>
                <a:ea typeface="Montserrat"/>
                <a:cs typeface="Montserrat"/>
                <a:sym typeface="Montserrat"/>
              </a:rPr>
              <a:t>Durée d’un sprint : 1 à 2 semaines</a:t>
            </a:r>
          </a:p>
          <a:p>
            <a:pPr marL="0" lvl="0" indent="0" algn="l" rtl="0">
              <a:spcBef>
                <a:spcPts val="0"/>
              </a:spcBef>
              <a:spcAft>
                <a:spcPts val="0"/>
              </a:spcAft>
              <a:buNone/>
            </a:pPr>
            <a:r>
              <a:rPr lang="fr-FR" sz="4800" dirty="0">
                <a:latin typeface="Montserrat"/>
                <a:ea typeface="Montserrat"/>
                <a:cs typeface="Montserrat"/>
                <a:sym typeface="Montserrat"/>
              </a:rPr>
              <a:t>Objectifs : livrer des fonctionnalités exploitables et valider les contraintes techniques</a:t>
            </a:r>
          </a:p>
          <a:p>
            <a:pPr marL="0" lvl="0" indent="0" algn="l" rtl="0">
              <a:spcBef>
                <a:spcPts val="0"/>
              </a:spcBef>
              <a:spcAft>
                <a:spcPts val="0"/>
              </a:spcAft>
              <a:buNone/>
            </a:pPr>
            <a:r>
              <a:rPr lang="fr-FR" sz="4800" dirty="0">
                <a:latin typeface="Montserrat"/>
                <a:ea typeface="Montserrat"/>
                <a:cs typeface="Montserrat"/>
                <a:sym typeface="Montserrat"/>
              </a:rPr>
              <a:t> Chaque sprint comprend : planification (choix des tâches du Kanban)</a:t>
            </a:r>
          </a:p>
          <a:p>
            <a:pPr marL="0" lvl="0" indent="0" algn="l" rtl="0">
              <a:spcBef>
                <a:spcPts val="0"/>
              </a:spcBef>
              <a:spcAft>
                <a:spcPts val="0"/>
              </a:spcAft>
              <a:buNone/>
            </a:pPr>
            <a:r>
              <a:rPr lang="fr-FR" sz="4800" dirty="0">
                <a:latin typeface="Montserrat"/>
                <a:ea typeface="Montserrat"/>
                <a:cs typeface="Montserrat"/>
                <a:sym typeface="Montserrat"/>
              </a:rPr>
              <a:t> - Rôles du projet </a:t>
            </a:r>
          </a:p>
          <a:p>
            <a:pPr marL="0" lvl="0" indent="0" algn="l" rtl="0">
              <a:spcBef>
                <a:spcPts val="0"/>
              </a:spcBef>
              <a:spcAft>
                <a:spcPts val="0"/>
              </a:spcAft>
              <a:buNone/>
            </a:pPr>
            <a:r>
              <a:rPr lang="fr-FR" sz="4800" dirty="0">
                <a:latin typeface="Montserrat"/>
                <a:ea typeface="Montserrat"/>
                <a:cs typeface="Montserrat"/>
                <a:sym typeface="Montserrat"/>
              </a:rPr>
              <a:t>Dev </a:t>
            </a:r>
            <a:r>
              <a:rPr lang="fr-FR" sz="4800" dirty="0" err="1">
                <a:latin typeface="Montserrat"/>
                <a:ea typeface="Montserrat"/>
                <a:cs typeface="Montserrat"/>
                <a:sym typeface="Montserrat"/>
              </a:rPr>
              <a:t>Front-end</a:t>
            </a:r>
            <a:r>
              <a:rPr lang="fr-FR" sz="4800" dirty="0">
                <a:latin typeface="Montserrat"/>
                <a:ea typeface="Montserrat"/>
                <a:cs typeface="Montserrat"/>
                <a:sym typeface="Montserrat"/>
              </a:rPr>
              <a:t> : interface utilisateur, expérience et intégration</a:t>
            </a:r>
          </a:p>
          <a:p>
            <a:pPr marL="0" lvl="0" indent="0" algn="l" rtl="0">
              <a:spcBef>
                <a:spcPts val="0"/>
              </a:spcBef>
              <a:spcAft>
                <a:spcPts val="0"/>
              </a:spcAft>
              <a:buNone/>
            </a:pPr>
            <a:r>
              <a:rPr lang="fr-FR" sz="4800" dirty="0">
                <a:latin typeface="Montserrat"/>
                <a:ea typeface="Montserrat"/>
                <a:cs typeface="Montserrat"/>
                <a:sym typeface="Montserrat"/>
              </a:rPr>
              <a:t>Dev </a:t>
            </a:r>
            <a:r>
              <a:rPr lang="fr-FR" sz="4800" dirty="0" err="1">
                <a:latin typeface="Montserrat"/>
                <a:ea typeface="Montserrat"/>
                <a:cs typeface="Montserrat"/>
                <a:sym typeface="Montserrat"/>
              </a:rPr>
              <a:t>Back-end</a:t>
            </a:r>
            <a:r>
              <a:rPr lang="fr-FR" sz="4800" dirty="0">
                <a:latin typeface="Montserrat"/>
                <a:ea typeface="Montserrat"/>
                <a:cs typeface="Montserrat"/>
                <a:sym typeface="Montserrat"/>
              </a:rPr>
              <a:t> : API, base de données et logique serveur </a:t>
            </a:r>
          </a:p>
          <a:p>
            <a:pPr marL="0" lvl="0" indent="0" algn="l" rtl="0">
              <a:spcBef>
                <a:spcPts val="0"/>
              </a:spcBef>
              <a:spcAft>
                <a:spcPts val="0"/>
              </a:spcAft>
              <a:buNone/>
            </a:pPr>
            <a:endParaRPr lang="fr-FR" sz="4800" dirty="0">
              <a:latin typeface="Montserrat"/>
              <a:ea typeface="Montserrat"/>
              <a:cs typeface="Montserrat"/>
              <a:sym typeface="Montserrat"/>
            </a:endParaRPr>
          </a:p>
          <a:p>
            <a:pPr marL="0" indent="0">
              <a:buNone/>
            </a:pPr>
            <a:r>
              <a:rPr lang="fr-FR" sz="5600" b="1" dirty="0">
                <a:latin typeface="Montserrat"/>
                <a:ea typeface="Montserrat"/>
                <a:cs typeface="Montserrat"/>
                <a:sym typeface="Montserrat"/>
              </a:rPr>
              <a:t>Avantages de l’approche Agile pour Menu Maker </a:t>
            </a:r>
          </a:p>
          <a:p>
            <a:pPr marL="0" indent="0">
              <a:buNone/>
            </a:pPr>
            <a:r>
              <a:rPr lang="fr-FR" sz="4800" dirty="0">
                <a:latin typeface="Montserrat"/>
                <a:ea typeface="Montserrat"/>
                <a:cs typeface="Montserrat"/>
                <a:sym typeface="Montserrat"/>
              </a:rPr>
              <a:t>Flexibilité : adaptation facile aux changements des besoins du client</a:t>
            </a:r>
          </a:p>
          <a:p>
            <a:pPr marL="0" indent="0">
              <a:buNone/>
            </a:pPr>
            <a:r>
              <a:rPr lang="fr-FR" sz="4800" dirty="0">
                <a:latin typeface="Montserrat"/>
                <a:ea typeface="Montserrat"/>
                <a:cs typeface="Montserrat"/>
                <a:sym typeface="Montserrat"/>
              </a:rPr>
              <a:t>Visibilité : suivi clair de l’avancement via le Kanban</a:t>
            </a:r>
          </a:p>
          <a:p>
            <a:pPr marL="0" indent="0">
              <a:buNone/>
            </a:pPr>
            <a:r>
              <a:rPr lang="fr-FR" sz="4800" dirty="0">
                <a:latin typeface="Montserrat"/>
                <a:ea typeface="Montserrat"/>
                <a:cs typeface="Montserrat"/>
                <a:sym typeface="Montserrat"/>
              </a:rPr>
              <a:t>Qualité :  tests et validations intégrés à chaque sprint</a:t>
            </a:r>
          </a:p>
          <a:p>
            <a:pPr marL="0" indent="0">
              <a:buNone/>
            </a:pPr>
            <a:r>
              <a:rPr lang="fr-FR" sz="4800" dirty="0">
                <a:latin typeface="Montserrat"/>
                <a:ea typeface="Montserrat"/>
                <a:cs typeface="Montserrat"/>
                <a:sym typeface="Montserrat"/>
              </a:rPr>
              <a:t>Réduction des risques : les choix techniques sont validés progressivement </a:t>
            </a:r>
          </a:p>
          <a:p>
            <a:pPr marL="0" indent="0">
              <a:buNone/>
            </a:pPr>
            <a:r>
              <a:rPr lang="fr-FR" sz="4800" dirty="0">
                <a:latin typeface="Montserrat"/>
                <a:ea typeface="Montserrat"/>
                <a:cs typeface="Montserrat"/>
                <a:sym typeface="Montserrat"/>
              </a:rPr>
              <a:t>Collaboration efficace entre </a:t>
            </a:r>
            <a:r>
              <a:rPr lang="fr-FR" sz="4800" dirty="0" err="1">
                <a:latin typeface="Montserrat"/>
                <a:ea typeface="Montserrat"/>
                <a:cs typeface="Montserrat"/>
                <a:sym typeface="Montserrat"/>
              </a:rPr>
              <a:t>front-end</a:t>
            </a:r>
            <a:r>
              <a:rPr lang="fr-FR" sz="4800" dirty="0">
                <a:latin typeface="Montserrat"/>
                <a:ea typeface="Montserrat"/>
                <a:cs typeface="Montserrat"/>
                <a:sym typeface="Montserrat"/>
              </a:rPr>
              <a:t> et </a:t>
            </a:r>
            <a:r>
              <a:rPr lang="fr-FR" sz="4800" dirty="0" err="1">
                <a:latin typeface="Montserrat"/>
                <a:ea typeface="Montserrat"/>
                <a:cs typeface="Montserrat"/>
                <a:sym typeface="Montserrat"/>
              </a:rPr>
              <a:t>back-end</a:t>
            </a:r>
            <a:endParaRPr sz="4800" dirty="0">
              <a:latin typeface="Montserrat"/>
              <a:ea typeface="Montserrat"/>
              <a:cs typeface="Montserrat"/>
              <a:sym typeface="Montserrat"/>
            </a:endParaRPr>
          </a:p>
          <a:p>
            <a:pPr marL="0" lvl="0" indent="0" algn="l" rtl="0">
              <a:spcBef>
                <a:spcPts val="1200"/>
              </a:spcBef>
              <a:spcAft>
                <a:spcPts val="0"/>
              </a:spcAft>
              <a:buNone/>
            </a:pPr>
            <a:endParaRPr dirty="0">
              <a:latin typeface="Montserrat"/>
              <a:ea typeface="Montserrat"/>
              <a:cs typeface="Montserrat"/>
              <a:sym typeface="Montserrat"/>
            </a:endParaRPr>
          </a:p>
          <a:p>
            <a:pPr marL="457200" lvl="0" indent="0" algn="l" rtl="0">
              <a:spcBef>
                <a:spcPts val="1200"/>
              </a:spcBef>
              <a:spcAft>
                <a:spcPts val="1200"/>
              </a:spcAft>
              <a:buNone/>
            </a:pPr>
            <a:endParaRPr dirty="0">
              <a:latin typeface="Montserrat"/>
              <a:ea typeface="Montserrat"/>
              <a:cs typeface="Montserrat"/>
              <a:sym typeface="Montserrat"/>
            </a:endParaRPr>
          </a:p>
        </p:txBody>
      </p:sp>
      <p:sp>
        <p:nvSpPr>
          <p:cNvPr id="86" name="Google Shape;86;p17"/>
          <p:cNvSpPr/>
          <p:nvPr/>
        </p:nvSpPr>
        <p:spPr>
          <a:xfrm>
            <a:off x="-4800" y="0"/>
            <a:ext cx="9153600" cy="239700"/>
          </a:xfrm>
          <a:prstGeom prst="rect">
            <a:avLst/>
          </a:prstGeom>
          <a:solidFill>
            <a:srgbClr val="FCE5CD"/>
          </a:solidFill>
          <a:ln w="9525" cap="flat" cmpd="sng">
            <a:solidFill>
              <a:srgbClr val="F7E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87" name="Google Shape;87;p17"/>
          <p:cNvPicPr preferRelativeResize="0"/>
          <p:nvPr/>
        </p:nvPicPr>
        <p:blipFill>
          <a:blip r:embed="rId3">
            <a:alphaModFix/>
          </a:blip>
          <a:stretch>
            <a:fillRect/>
          </a:stretch>
        </p:blipFill>
        <p:spPr>
          <a:xfrm>
            <a:off x="8469575" y="-4"/>
            <a:ext cx="674425" cy="340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fr" sz="2000" b="1" dirty="0">
                <a:latin typeface="Montserrat"/>
                <a:ea typeface="Montserrat"/>
                <a:cs typeface="Montserrat"/>
                <a:sym typeface="Montserrat"/>
              </a:rPr>
              <a:t>Suivi du projet avec le Kanban</a:t>
            </a:r>
            <a:endParaRPr sz="3000" b="1" dirty="0">
              <a:latin typeface="Montserrat"/>
              <a:ea typeface="Montserrat"/>
              <a:cs typeface="Montserrat"/>
              <a:sym typeface="Montserrat"/>
            </a:endParaRPr>
          </a:p>
        </p:txBody>
      </p:sp>
      <p:sp>
        <p:nvSpPr>
          <p:cNvPr id="93" name="Google Shape;93;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latin typeface="Montserrat"/>
              <a:ea typeface="Montserrat"/>
              <a:cs typeface="Montserrat"/>
              <a:sym typeface="Montserrat"/>
            </a:endParaRPr>
          </a:p>
          <a:p>
            <a:pPr marL="0" lvl="0" indent="0" algn="l" rtl="0">
              <a:spcBef>
                <a:spcPts val="1200"/>
              </a:spcBef>
              <a:spcAft>
                <a:spcPts val="0"/>
              </a:spcAft>
              <a:buNone/>
            </a:pPr>
            <a:endParaRPr>
              <a:latin typeface="Montserrat"/>
              <a:ea typeface="Montserrat"/>
              <a:cs typeface="Montserrat"/>
              <a:sym typeface="Montserrat"/>
            </a:endParaRPr>
          </a:p>
          <a:p>
            <a:pPr marL="457200" lvl="0" indent="0" algn="l" rtl="0">
              <a:spcBef>
                <a:spcPts val="1200"/>
              </a:spcBef>
              <a:spcAft>
                <a:spcPts val="1200"/>
              </a:spcAft>
              <a:buNone/>
            </a:pPr>
            <a:endParaRPr>
              <a:latin typeface="Montserrat"/>
              <a:ea typeface="Montserrat"/>
              <a:cs typeface="Montserrat"/>
              <a:sym typeface="Montserrat"/>
            </a:endParaRPr>
          </a:p>
        </p:txBody>
      </p:sp>
      <p:sp>
        <p:nvSpPr>
          <p:cNvPr id="94" name="Google Shape;94;p18"/>
          <p:cNvSpPr txBox="1"/>
          <p:nvPr/>
        </p:nvSpPr>
        <p:spPr>
          <a:xfrm>
            <a:off x="149075" y="912807"/>
            <a:ext cx="8320500" cy="3647122"/>
          </a:xfrm>
          <a:prstGeom prst="rect">
            <a:avLst/>
          </a:prstGeom>
          <a:noFill/>
          <a:ln>
            <a:noFill/>
          </a:ln>
        </p:spPr>
        <p:txBody>
          <a:bodyPr spcFirstLastPara="1" wrap="square" lIns="91425" tIns="91425" rIns="91425" bIns="91425" anchor="t" anchorCtr="0">
            <a:spAutoFit/>
          </a:bodyPr>
          <a:lstStyle/>
          <a:p>
            <a:pPr marL="457200" lvl="0" indent="-323850" algn="l" rtl="0">
              <a:lnSpc>
                <a:spcPct val="150000"/>
              </a:lnSpc>
              <a:spcBef>
                <a:spcPts val="0"/>
              </a:spcBef>
              <a:spcAft>
                <a:spcPts val="0"/>
              </a:spcAft>
              <a:buClr>
                <a:srgbClr val="0D0D0D"/>
              </a:buClr>
              <a:buSzPts val="1500"/>
              <a:buFont typeface="Montserrat"/>
              <a:buChar char="●"/>
            </a:pPr>
            <a:r>
              <a:rPr lang="fr-FR" sz="1500" dirty="0">
                <a:solidFill>
                  <a:srgbClr val="0D0D0D"/>
                </a:solidFill>
                <a:highlight>
                  <a:srgbClr val="FFFFFF"/>
                </a:highlight>
                <a:latin typeface="Montserrat"/>
                <a:ea typeface="Montserrat"/>
                <a:cs typeface="Montserrat"/>
                <a:sym typeface="Montserrat"/>
              </a:rPr>
              <a:t>Tableau Kanban </a:t>
            </a:r>
          </a:p>
          <a:p>
            <a:pPr marL="457200" lvl="0" indent="-323850" algn="l" rtl="0">
              <a:lnSpc>
                <a:spcPct val="150000"/>
              </a:lnSpc>
              <a:spcBef>
                <a:spcPts val="0"/>
              </a:spcBef>
              <a:spcAft>
                <a:spcPts val="0"/>
              </a:spcAft>
              <a:buClr>
                <a:srgbClr val="0D0D0D"/>
              </a:buClr>
              <a:buSzPts val="1500"/>
              <a:buFont typeface="Montserrat"/>
              <a:buChar char="●"/>
            </a:pPr>
            <a:r>
              <a:rPr lang="fr-FR" sz="1500" dirty="0">
                <a:solidFill>
                  <a:srgbClr val="0D0D0D"/>
                </a:solidFill>
                <a:highlight>
                  <a:srgbClr val="FFFFFF"/>
                </a:highlight>
                <a:latin typeface="Montserrat"/>
                <a:ea typeface="Montserrat"/>
                <a:cs typeface="Montserrat"/>
                <a:sym typeface="Montserrat"/>
              </a:rPr>
              <a:t>– Organisation du projet : le tableau Kanban a été réalisé sur Notion et structuré en 3 colonnes : « À faire » , « À tester » et « Terminé » </a:t>
            </a:r>
          </a:p>
          <a:p>
            <a:pPr marL="457200" lvl="0" indent="-323850" algn="l" rtl="0">
              <a:lnSpc>
                <a:spcPct val="150000"/>
              </a:lnSpc>
              <a:spcBef>
                <a:spcPts val="0"/>
              </a:spcBef>
              <a:spcAft>
                <a:spcPts val="0"/>
              </a:spcAft>
              <a:buClr>
                <a:srgbClr val="0D0D0D"/>
              </a:buClr>
              <a:buSzPts val="1500"/>
              <a:buFont typeface="Montserrat"/>
              <a:buChar char="●"/>
            </a:pPr>
            <a:r>
              <a:rPr lang="fr-FR" sz="1500" dirty="0">
                <a:solidFill>
                  <a:srgbClr val="0D0D0D"/>
                </a:solidFill>
                <a:highlight>
                  <a:srgbClr val="FFFFFF"/>
                </a:highlight>
                <a:latin typeface="Montserrat"/>
                <a:ea typeface="Montserrat"/>
                <a:cs typeface="Montserrat"/>
                <a:sym typeface="Montserrat"/>
              </a:rPr>
              <a:t>Chaque colonne représente l’état d’avancement des tâches tout au long du projet. </a:t>
            </a:r>
          </a:p>
          <a:p>
            <a:pPr marL="457200" lvl="0" indent="-323850" algn="l" rtl="0">
              <a:lnSpc>
                <a:spcPct val="150000"/>
              </a:lnSpc>
              <a:spcBef>
                <a:spcPts val="0"/>
              </a:spcBef>
              <a:spcAft>
                <a:spcPts val="0"/>
              </a:spcAft>
              <a:buClr>
                <a:srgbClr val="0D0D0D"/>
              </a:buClr>
              <a:buSzPts val="1500"/>
              <a:buFont typeface="Montserrat"/>
              <a:buChar char="●"/>
            </a:pPr>
            <a:r>
              <a:rPr lang="fr-FR" sz="1500" dirty="0">
                <a:solidFill>
                  <a:srgbClr val="0D0D0D"/>
                </a:solidFill>
                <a:highlight>
                  <a:srgbClr val="FFFFFF"/>
                </a:highlight>
                <a:latin typeface="Montserrat"/>
                <a:ea typeface="Montserrat"/>
                <a:cs typeface="Montserrat"/>
                <a:sym typeface="Montserrat"/>
              </a:rPr>
              <a:t>Des captures d’écran du tableau sont intégrées à cette présentation afin d’illustrer l’organisation globale. </a:t>
            </a:r>
          </a:p>
          <a:p>
            <a:pPr marL="457200" lvl="0" indent="-323850" algn="l" rtl="0">
              <a:lnSpc>
                <a:spcPct val="150000"/>
              </a:lnSpc>
              <a:spcBef>
                <a:spcPts val="0"/>
              </a:spcBef>
              <a:spcAft>
                <a:spcPts val="0"/>
              </a:spcAft>
              <a:buClr>
                <a:srgbClr val="0D0D0D"/>
              </a:buClr>
              <a:buSzPts val="1500"/>
              <a:buFont typeface="Montserrat"/>
              <a:buChar char="●"/>
            </a:pPr>
            <a:r>
              <a:rPr lang="fr-FR" sz="1500" dirty="0">
                <a:solidFill>
                  <a:srgbClr val="0D0D0D"/>
                </a:solidFill>
                <a:highlight>
                  <a:srgbClr val="FFFFFF"/>
                </a:highlight>
                <a:latin typeface="Montserrat"/>
                <a:ea typeface="Montserrat"/>
                <a:cs typeface="Montserrat"/>
                <a:sym typeface="Montserrat"/>
              </a:rPr>
              <a:t>Explication des User Stories et des tâches </a:t>
            </a:r>
          </a:p>
          <a:p>
            <a:pPr marL="457200" lvl="0" indent="-323850" algn="l" rtl="0">
              <a:lnSpc>
                <a:spcPct val="150000"/>
              </a:lnSpc>
              <a:spcBef>
                <a:spcPts val="0"/>
              </a:spcBef>
              <a:spcAft>
                <a:spcPts val="0"/>
              </a:spcAft>
              <a:buClr>
                <a:srgbClr val="0D0D0D"/>
              </a:buClr>
              <a:buSzPts val="1500"/>
              <a:buFont typeface="Montserrat"/>
              <a:buChar char="●"/>
            </a:pPr>
            <a:r>
              <a:rPr lang="fr-FR" sz="1500" dirty="0">
                <a:solidFill>
                  <a:srgbClr val="0D0D0D"/>
                </a:solidFill>
                <a:highlight>
                  <a:srgbClr val="FFFFFF"/>
                </a:highlight>
                <a:latin typeface="Montserrat"/>
                <a:ea typeface="Montserrat"/>
                <a:cs typeface="Montserrat"/>
                <a:sym typeface="Montserrat"/>
              </a:rPr>
              <a:t>Chaque carte du Kanban correspond à une User Story, rédigée du point de vue de l’utilisateur ou de l’équipe technique.</a:t>
            </a:r>
          </a:p>
        </p:txBody>
      </p:sp>
      <p:sp>
        <p:nvSpPr>
          <p:cNvPr id="95" name="Google Shape;95;p18"/>
          <p:cNvSpPr/>
          <p:nvPr/>
        </p:nvSpPr>
        <p:spPr>
          <a:xfrm>
            <a:off x="-4800" y="0"/>
            <a:ext cx="9153600" cy="239700"/>
          </a:xfrm>
          <a:prstGeom prst="rect">
            <a:avLst/>
          </a:prstGeom>
          <a:solidFill>
            <a:srgbClr val="FCE5CD"/>
          </a:solidFill>
          <a:ln w="9525" cap="flat" cmpd="sng">
            <a:solidFill>
              <a:srgbClr val="F7E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96" name="Google Shape;96;p18"/>
          <p:cNvPicPr preferRelativeResize="0"/>
          <p:nvPr/>
        </p:nvPicPr>
        <p:blipFill>
          <a:blip r:embed="rId3">
            <a:alphaModFix/>
          </a:blip>
          <a:stretch>
            <a:fillRect/>
          </a:stretch>
        </p:blipFill>
        <p:spPr>
          <a:xfrm>
            <a:off x="8469575" y="-4"/>
            <a:ext cx="674425" cy="340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67CD23-7242-BAF8-01FE-6FF890A75E6D}"/>
              </a:ext>
            </a:extLst>
          </p:cNvPr>
          <p:cNvSpPr>
            <a:spLocks noGrp="1"/>
          </p:cNvSpPr>
          <p:nvPr>
            <p:ph type="title"/>
          </p:nvPr>
        </p:nvSpPr>
        <p:spPr/>
        <p:txBody>
          <a:bodyPr>
            <a:normAutofit fontScale="90000"/>
          </a:bodyPr>
          <a:lstStyle/>
          <a:p>
            <a:r>
              <a:rPr lang="fr-FR" dirty="0"/>
              <a:t>Suivi du projet Kanban (Screenshot)</a:t>
            </a:r>
          </a:p>
        </p:txBody>
      </p:sp>
      <p:sp>
        <p:nvSpPr>
          <p:cNvPr id="3" name="Espace réservé du texte 2">
            <a:extLst>
              <a:ext uri="{FF2B5EF4-FFF2-40B4-BE49-F238E27FC236}">
                <a16:creationId xmlns:a16="http://schemas.microsoft.com/office/drawing/2014/main" id="{FEEEA891-A65C-FC80-6FE2-546D9A4B2505}"/>
              </a:ext>
            </a:extLst>
          </p:cNvPr>
          <p:cNvSpPr>
            <a:spLocks noGrp="1"/>
          </p:cNvSpPr>
          <p:nvPr>
            <p:ph type="body" idx="1"/>
          </p:nvPr>
        </p:nvSpPr>
        <p:spPr/>
        <p:txBody>
          <a:bodyPr/>
          <a:lstStyle/>
          <a:p>
            <a:endParaRPr lang="fr-FR"/>
          </a:p>
        </p:txBody>
      </p:sp>
      <p:pic>
        <p:nvPicPr>
          <p:cNvPr id="5" name="Image 4">
            <a:extLst>
              <a:ext uri="{FF2B5EF4-FFF2-40B4-BE49-F238E27FC236}">
                <a16:creationId xmlns:a16="http://schemas.microsoft.com/office/drawing/2014/main" id="{812B75A1-0E4D-C031-7610-5F3162A7FF49}"/>
              </a:ext>
            </a:extLst>
          </p:cNvPr>
          <p:cNvPicPr>
            <a:picLocks noChangeAspect="1"/>
          </p:cNvPicPr>
          <p:nvPr/>
        </p:nvPicPr>
        <p:blipFill>
          <a:blip r:embed="rId2"/>
          <a:stretch>
            <a:fillRect/>
          </a:stretch>
        </p:blipFill>
        <p:spPr>
          <a:xfrm>
            <a:off x="187778" y="1152475"/>
            <a:ext cx="8417379" cy="3416400"/>
          </a:xfrm>
          <a:prstGeom prst="rect">
            <a:avLst/>
          </a:prstGeom>
        </p:spPr>
      </p:pic>
    </p:spTree>
    <p:extLst>
      <p:ext uri="{BB962C8B-B14F-4D97-AF65-F5344CB8AC3E}">
        <p14:creationId xmlns:p14="http://schemas.microsoft.com/office/powerpoint/2010/main" val="22272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500CDE-4B82-C9CD-2B41-E5D6CCFD6E56}"/>
              </a:ext>
            </a:extLst>
          </p:cNvPr>
          <p:cNvSpPr>
            <a:spLocks noGrp="1"/>
          </p:cNvSpPr>
          <p:nvPr>
            <p:ph type="title"/>
          </p:nvPr>
        </p:nvSpPr>
        <p:spPr/>
        <p:txBody>
          <a:bodyPr>
            <a:normAutofit fontScale="90000"/>
          </a:bodyPr>
          <a:lstStyle/>
          <a:p>
            <a:r>
              <a:rPr lang="fr-FR" b="1" dirty="0">
                <a:latin typeface="Montserrat" panose="00000500000000000000" pitchFamily="2" charset="0"/>
              </a:rPr>
              <a:t>Suivi du projet avec le Kanban</a:t>
            </a:r>
          </a:p>
        </p:txBody>
      </p:sp>
      <p:sp>
        <p:nvSpPr>
          <p:cNvPr id="3" name="Espace réservé du texte 2">
            <a:extLst>
              <a:ext uri="{FF2B5EF4-FFF2-40B4-BE49-F238E27FC236}">
                <a16:creationId xmlns:a16="http://schemas.microsoft.com/office/drawing/2014/main" id="{934DD253-B351-0FC4-C713-47EC5499F67F}"/>
              </a:ext>
            </a:extLst>
          </p:cNvPr>
          <p:cNvSpPr>
            <a:spLocks noGrp="1"/>
          </p:cNvSpPr>
          <p:nvPr>
            <p:ph type="body" idx="1"/>
          </p:nvPr>
        </p:nvSpPr>
        <p:spPr/>
        <p:txBody>
          <a:bodyPr/>
          <a:lstStyle/>
          <a:p>
            <a:r>
              <a:rPr lang="fr-FR" dirty="0">
                <a:latin typeface="Montserrat" panose="00000500000000000000" pitchFamily="2" charset="0"/>
              </a:rPr>
              <a:t>Chaque carte du Kanban contient : </a:t>
            </a:r>
          </a:p>
          <a:p>
            <a:r>
              <a:rPr lang="fr-FR" dirty="0">
                <a:latin typeface="Montserrat" panose="00000500000000000000" pitchFamily="2" charset="0"/>
              </a:rPr>
              <a:t>une User Story claire un assigné (Dev </a:t>
            </a:r>
            <a:r>
              <a:rPr lang="fr-FR" dirty="0" err="1">
                <a:latin typeface="Montserrat" panose="00000500000000000000" pitchFamily="2" charset="0"/>
              </a:rPr>
              <a:t>Front-end</a:t>
            </a:r>
            <a:r>
              <a:rPr lang="fr-FR" dirty="0">
                <a:latin typeface="Montserrat" panose="00000500000000000000" pitchFamily="2" charset="0"/>
              </a:rPr>
              <a:t> / Dev </a:t>
            </a:r>
            <a:r>
              <a:rPr lang="fr-FR" dirty="0" err="1">
                <a:latin typeface="Montserrat" panose="00000500000000000000" pitchFamily="2" charset="0"/>
              </a:rPr>
              <a:t>Back-end</a:t>
            </a:r>
            <a:r>
              <a:rPr lang="fr-FR" dirty="0">
                <a:latin typeface="Montserrat" panose="00000500000000000000" pitchFamily="2" charset="0"/>
              </a:rPr>
              <a:t>) </a:t>
            </a:r>
          </a:p>
          <a:p>
            <a:r>
              <a:rPr lang="fr-FR" dirty="0">
                <a:latin typeface="Montserrat" panose="00000500000000000000" pitchFamily="2" charset="0"/>
              </a:rPr>
              <a:t>une estimation en story points </a:t>
            </a:r>
          </a:p>
          <a:p>
            <a:r>
              <a:rPr lang="fr-FR" dirty="0">
                <a:latin typeface="Montserrat" panose="00000500000000000000" pitchFamily="2" charset="0"/>
              </a:rPr>
              <a:t>des critères de succès </a:t>
            </a:r>
          </a:p>
          <a:p>
            <a:r>
              <a:rPr lang="fr-FR" dirty="0">
                <a:latin typeface="Montserrat" panose="00000500000000000000" pitchFamily="2" charset="0"/>
              </a:rPr>
              <a:t>des spécifications techniques </a:t>
            </a:r>
          </a:p>
          <a:p>
            <a:r>
              <a:rPr lang="fr-FR" dirty="0">
                <a:latin typeface="Montserrat" panose="00000500000000000000" pitchFamily="2" charset="0"/>
              </a:rPr>
              <a:t>une liste de tâches à accomplir </a:t>
            </a:r>
          </a:p>
          <a:p>
            <a:r>
              <a:rPr lang="fr-FR" dirty="0">
                <a:latin typeface="Montserrat" panose="00000500000000000000" pitchFamily="2" charset="0"/>
              </a:rPr>
              <a:t>Objectif du Kanban : transformer les besoins fonctionnels en tâches concrètes et réalisable</a:t>
            </a:r>
          </a:p>
          <a:p>
            <a:endParaRPr lang="fr-FR" dirty="0"/>
          </a:p>
          <a:p>
            <a:pPr marL="114300" indent="0">
              <a:buNone/>
            </a:pPr>
            <a:r>
              <a:rPr lang="fr-FR" dirty="0">
                <a:hlinkClick r:id="rId2"/>
              </a:rPr>
              <a:t>lien vers Kanban</a:t>
            </a:r>
            <a:endParaRPr lang="fr-FR" dirty="0"/>
          </a:p>
          <a:p>
            <a:endParaRPr lang="fr-FR" dirty="0"/>
          </a:p>
          <a:p>
            <a:endParaRPr lang="fr-FR" dirty="0"/>
          </a:p>
        </p:txBody>
      </p:sp>
    </p:spTree>
    <p:extLst>
      <p:ext uri="{BB962C8B-B14F-4D97-AF65-F5344CB8AC3E}">
        <p14:creationId xmlns:p14="http://schemas.microsoft.com/office/powerpoint/2010/main" val="3622333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fr" sz="1800" b="1" dirty="0">
                <a:latin typeface="Montserrat"/>
                <a:ea typeface="Montserrat"/>
                <a:cs typeface="Montserrat"/>
                <a:sym typeface="Montserrat"/>
              </a:rPr>
              <a:t>Spécifications techniques</a:t>
            </a:r>
            <a:endParaRPr sz="1800" b="1" dirty="0">
              <a:solidFill>
                <a:schemeClr val="dk2"/>
              </a:solidFill>
              <a:latin typeface="Montserrat"/>
              <a:ea typeface="Montserrat"/>
              <a:cs typeface="Montserrat"/>
              <a:sym typeface="Montserrat"/>
            </a:endParaRPr>
          </a:p>
        </p:txBody>
      </p:sp>
      <p:sp>
        <p:nvSpPr>
          <p:cNvPr id="102" name="Google Shape;102;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fr-FR" dirty="0" err="1">
                <a:latin typeface="Montserrat"/>
                <a:ea typeface="Montserrat"/>
                <a:cs typeface="Montserrat"/>
                <a:sym typeface="Montserrat"/>
              </a:rPr>
              <a:t>Front-end</a:t>
            </a:r>
            <a:r>
              <a:rPr lang="fr-FR" dirty="0">
                <a:latin typeface="Montserrat"/>
                <a:ea typeface="Montserrat"/>
                <a:cs typeface="Montserrat"/>
                <a:sym typeface="Montserrat"/>
              </a:rPr>
              <a:t> : </a:t>
            </a:r>
            <a:r>
              <a:rPr lang="fr-FR" dirty="0" err="1">
                <a:latin typeface="Montserrat"/>
                <a:ea typeface="Montserrat"/>
                <a:cs typeface="Montserrat"/>
                <a:sym typeface="Montserrat"/>
              </a:rPr>
              <a:t>ReactBack</a:t>
            </a:r>
            <a:r>
              <a:rPr lang="fr-FR" dirty="0">
                <a:latin typeface="Montserrat"/>
                <a:ea typeface="Montserrat"/>
                <a:cs typeface="Montserrat"/>
                <a:sym typeface="Montserrat"/>
              </a:rPr>
              <a:t>-end : Node.js / </a:t>
            </a:r>
            <a:r>
              <a:rPr lang="fr-FR" dirty="0" err="1">
                <a:latin typeface="Montserrat"/>
                <a:ea typeface="Montserrat"/>
                <a:cs typeface="Montserrat"/>
                <a:sym typeface="Montserrat"/>
              </a:rPr>
              <a:t>Express.jsBase</a:t>
            </a:r>
            <a:r>
              <a:rPr lang="fr-FR" dirty="0">
                <a:latin typeface="Montserrat"/>
                <a:ea typeface="Montserrat"/>
                <a:cs typeface="Montserrat"/>
                <a:sym typeface="Montserrat"/>
              </a:rPr>
              <a:t> de données : </a:t>
            </a:r>
          </a:p>
          <a:p>
            <a:pPr marL="0" lvl="0" indent="0" algn="l" rtl="0">
              <a:spcBef>
                <a:spcPts val="0"/>
              </a:spcBef>
              <a:spcAft>
                <a:spcPts val="0"/>
              </a:spcAft>
              <a:buNone/>
            </a:pPr>
            <a:r>
              <a:rPr lang="fr-FR" dirty="0">
                <a:latin typeface="Montserrat"/>
                <a:ea typeface="Montserrat"/>
                <a:cs typeface="Montserrat"/>
                <a:sym typeface="Montserrat"/>
              </a:rPr>
              <a:t>MongoDB (NoSQL)</a:t>
            </a:r>
          </a:p>
          <a:p>
            <a:pPr marL="0" lvl="0" indent="0" algn="l" rtl="0">
              <a:spcBef>
                <a:spcPts val="0"/>
              </a:spcBef>
              <a:spcAft>
                <a:spcPts val="0"/>
              </a:spcAft>
              <a:buNone/>
            </a:pPr>
            <a:r>
              <a:rPr lang="fr-FR" dirty="0">
                <a:latin typeface="Montserrat"/>
                <a:ea typeface="Montserrat"/>
                <a:cs typeface="Montserrat"/>
                <a:sym typeface="Montserrat"/>
              </a:rPr>
              <a:t>Communication : API REST + </a:t>
            </a:r>
            <a:r>
              <a:rPr lang="fr-FR" dirty="0" err="1">
                <a:latin typeface="Montserrat"/>
                <a:ea typeface="Montserrat"/>
                <a:cs typeface="Montserrat"/>
                <a:sym typeface="Montserrat"/>
              </a:rPr>
              <a:t>AxiosAuthentification</a:t>
            </a:r>
            <a:r>
              <a:rPr lang="fr-FR" dirty="0">
                <a:latin typeface="Montserrat"/>
                <a:ea typeface="Montserrat"/>
                <a:cs typeface="Montserrat"/>
                <a:sym typeface="Montserrat"/>
              </a:rPr>
              <a:t> : JSON Web </a:t>
            </a:r>
            <a:r>
              <a:rPr lang="fr-FR" dirty="0" err="1">
                <a:latin typeface="Montserrat"/>
                <a:ea typeface="Montserrat"/>
                <a:cs typeface="Montserrat"/>
                <a:sym typeface="Montserrat"/>
              </a:rPr>
              <a:t>Token</a:t>
            </a:r>
            <a:r>
              <a:rPr lang="fr-FR" dirty="0">
                <a:latin typeface="Montserrat"/>
                <a:ea typeface="Montserrat"/>
                <a:cs typeface="Montserrat"/>
                <a:sym typeface="Montserrat"/>
              </a:rPr>
              <a:t> (JWT)</a:t>
            </a:r>
          </a:p>
          <a:p>
            <a:pPr marL="0" lvl="0" indent="0" algn="l" rtl="0">
              <a:spcBef>
                <a:spcPts val="0"/>
              </a:spcBef>
              <a:spcAft>
                <a:spcPts val="0"/>
              </a:spcAft>
              <a:buNone/>
            </a:pPr>
            <a:r>
              <a:rPr lang="fr-FR" dirty="0">
                <a:latin typeface="Montserrat"/>
                <a:ea typeface="Montserrat"/>
                <a:cs typeface="Montserrat"/>
                <a:sym typeface="Montserrat"/>
              </a:rPr>
              <a:t>Sécurité : </a:t>
            </a:r>
            <a:r>
              <a:rPr lang="fr-FR" dirty="0" err="1">
                <a:latin typeface="Montserrat"/>
                <a:ea typeface="Montserrat"/>
                <a:cs typeface="Montserrat"/>
                <a:sym typeface="Montserrat"/>
              </a:rPr>
              <a:t>HelmetRate</a:t>
            </a:r>
            <a:r>
              <a:rPr lang="fr-FR" dirty="0">
                <a:latin typeface="Montserrat"/>
                <a:ea typeface="Montserrat"/>
                <a:cs typeface="Montserrat"/>
                <a:sym typeface="Montserrat"/>
              </a:rPr>
              <a:t> </a:t>
            </a:r>
            <a:r>
              <a:rPr lang="fr-FR" dirty="0" err="1">
                <a:latin typeface="Montserrat"/>
                <a:ea typeface="Montserrat"/>
                <a:cs typeface="Montserrat"/>
                <a:sym typeface="Montserrat"/>
              </a:rPr>
              <a:t>limiting</a:t>
            </a:r>
            <a:r>
              <a:rPr lang="fr-FR" dirty="0">
                <a:latin typeface="Montserrat"/>
                <a:ea typeface="Montserrat"/>
                <a:cs typeface="Montserrat"/>
                <a:sym typeface="Montserrat"/>
              </a:rPr>
              <a:t> (protection contre attaque brute force)</a:t>
            </a:r>
          </a:p>
          <a:p>
            <a:pPr marL="0" lvl="0" indent="0" algn="l" rtl="0">
              <a:spcBef>
                <a:spcPts val="0"/>
              </a:spcBef>
              <a:spcAft>
                <a:spcPts val="0"/>
              </a:spcAft>
              <a:buNone/>
            </a:pPr>
            <a:r>
              <a:rPr lang="fr-FR" dirty="0">
                <a:latin typeface="Montserrat"/>
                <a:ea typeface="Montserrat"/>
                <a:cs typeface="Montserrat"/>
                <a:sym typeface="Montserrat"/>
              </a:rPr>
              <a:t>Gestion des données : </a:t>
            </a:r>
            <a:r>
              <a:rPr lang="fr-FR" dirty="0" err="1">
                <a:latin typeface="Montserrat"/>
                <a:ea typeface="Montserrat"/>
                <a:cs typeface="Montserrat"/>
                <a:sym typeface="Montserrat"/>
              </a:rPr>
              <a:t>Mongoose</a:t>
            </a:r>
            <a:endParaRPr lang="fr-FR" dirty="0">
              <a:latin typeface="Montserrat"/>
              <a:ea typeface="Montserrat"/>
              <a:cs typeface="Montserrat"/>
              <a:sym typeface="Montserrat"/>
            </a:endParaRPr>
          </a:p>
          <a:p>
            <a:pPr marL="0" lvl="0" indent="0" algn="l" rtl="0">
              <a:spcBef>
                <a:spcPts val="0"/>
              </a:spcBef>
              <a:spcAft>
                <a:spcPts val="0"/>
              </a:spcAft>
              <a:buNone/>
            </a:pPr>
            <a:r>
              <a:rPr lang="fr-FR" dirty="0">
                <a:latin typeface="Montserrat"/>
                <a:ea typeface="Montserrat"/>
                <a:cs typeface="Montserrat"/>
                <a:sym typeface="Montserrat"/>
              </a:rPr>
              <a:t>Export PDF : </a:t>
            </a:r>
            <a:r>
              <a:rPr lang="fr-FR" dirty="0" err="1">
                <a:latin typeface="Montserrat"/>
                <a:ea typeface="Montserrat"/>
                <a:cs typeface="Montserrat"/>
                <a:sym typeface="Montserrat"/>
              </a:rPr>
              <a:t>jsPDF</a:t>
            </a:r>
            <a:endParaRPr lang="fr-FR" dirty="0">
              <a:latin typeface="Montserrat"/>
              <a:ea typeface="Montserrat"/>
              <a:cs typeface="Montserrat"/>
              <a:sym typeface="Montserrat"/>
            </a:endParaRPr>
          </a:p>
          <a:p>
            <a:pPr marL="0" lvl="0" indent="0" algn="l" rtl="0">
              <a:spcBef>
                <a:spcPts val="0"/>
              </a:spcBef>
              <a:spcAft>
                <a:spcPts val="0"/>
              </a:spcAft>
              <a:buNone/>
            </a:pPr>
            <a:endParaRPr lang="fr-FR" dirty="0">
              <a:latin typeface="Montserrat"/>
              <a:ea typeface="Montserrat"/>
              <a:cs typeface="Montserrat"/>
              <a:sym typeface="Montserrat"/>
            </a:endParaRPr>
          </a:p>
          <a:p>
            <a:pPr marL="0" lvl="0" indent="0" algn="l" rtl="0">
              <a:spcBef>
                <a:spcPts val="0"/>
              </a:spcBef>
              <a:spcAft>
                <a:spcPts val="0"/>
              </a:spcAft>
              <a:buNone/>
            </a:pPr>
            <a:r>
              <a:rPr lang="fr-FR" dirty="0">
                <a:latin typeface="Montserrat"/>
                <a:ea typeface="Montserrat"/>
                <a:cs typeface="Montserrat"/>
                <a:sym typeface="Montserrat"/>
              </a:rPr>
              <a:t>Gestion de projet : Kanban (Notion) </a:t>
            </a:r>
          </a:p>
          <a:p>
            <a:pPr marL="0" lvl="0" indent="0" algn="l" rtl="0">
              <a:spcBef>
                <a:spcPts val="0"/>
              </a:spcBef>
              <a:spcAft>
                <a:spcPts val="0"/>
              </a:spcAft>
              <a:buNone/>
            </a:pPr>
            <a:r>
              <a:rPr lang="fr-FR" dirty="0">
                <a:latin typeface="Montserrat"/>
                <a:ea typeface="Montserrat"/>
                <a:cs typeface="Montserrat"/>
                <a:sym typeface="Montserrat"/>
              </a:rPr>
              <a:t>Spécification technique clé : </a:t>
            </a:r>
          </a:p>
          <a:p>
            <a:pPr marL="0" lvl="0" indent="0" algn="l" rtl="0">
              <a:spcBef>
                <a:spcPts val="0"/>
              </a:spcBef>
              <a:spcAft>
                <a:spcPts val="0"/>
              </a:spcAft>
              <a:buNone/>
            </a:pPr>
            <a:r>
              <a:rPr lang="fr-FR" dirty="0">
                <a:latin typeface="Montserrat"/>
                <a:ea typeface="Montserrat"/>
                <a:cs typeface="Montserrat"/>
                <a:sym typeface="Montserrat"/>
              </a:rPr>
              <a:t>L’API REST est le cœur du projet : </a:t>
            </a:r>
          </a:p>
          <a:p>
            <a:pPr marL="285750" lvl="0" indent="-285750" algn="l" rtl="0">
              <a:spcBef>
                <a:spcPts val="0"/>
              </a:spcBef>
              <a:spcAft>
                <a:spcPts val="0"/>
              </a:spcAft>
              <a:buFontTx/>
              <a:buChar char="-"/>
            </a:pPr>
            <a:r>
              <a:rPr lang="fr-FR" dirty="0">
                <a:latin typeface="Montserrat"/>
                <a:ea typeface="Montserrat"/>
                <a:cs typeface="Montserrat"/>
                <a:sym typeface="Montserrat"/>
              </a:rPr>
              <a:t>Fonctionnement de l’API REST Le </a:t>
            </a:r>
            <a:r>
              <a:rPr lang="fr-FR" dirty="0" err="1">
                <a:latin typeface="Montserrat"/>
                <a:ea typeface="Montserrat"/>
                <a:cs typeface="Montserrat"/>
                <a:sym typeface="Montserrat"/>
              </a:rPr>
              <a:t>front-end</a:t>
            </a:r>
            <a:r>
              <a:rPr lang="fr-FR" dirty="0">
                <a:latin typeface="Montserrat"/>
                <a:ea typeface="Montserrat"/>
                <a:cs typeface="Montserrat"/>
                <a:sym typeface="Montserrat"/>
              </a:rPr>
              <a:t> envoie une requête (ex : « donne-moi les menus »)L’API Express reçoit et traite la demande</a:t>
            </a:r>
          </a:p>
          <a:p>
            <a:pPr marL="285750" lvl="0" indent="-285750" algn="l" rtl="0">
              <a:spcBef>
                <a:spcPts val="0"/>
              </a:spcBef>
              <a:spcAft>
                <a:spcPts val="0"/>
              </a:spcAft>
              <a:buFontTx/>
              <a:buChar char="-"/>
            </a:pPr>
            <a:r>
              <a:rPr lang="fr-FR" dirty="0">
                <a:latin typeface="Montserrat"/>
                <a:ea typeface="Montserrat"/>
                <a:cs typeface="Montserrat"/>
                <a:sym typeface="Montserrat"/>
              </a:rPr>
              <a:t>La base de données MongoDB renvoie les données</a:t>
            </a:r>
          </a:p>
          <a:p>
            <a:pPr marL="285750" lvl="0" indent="-285750" algn="l" rtl="0">
              <a:spcBef>
                <a:spcPts val="0"/>
              </a:spcBef>
              <a:spcAft>
                <a:spcPts val="0"/>
              </a:spcAft>
              <a:buFontTx/>
              <a:buChar char="-"/>
            </a:pPr>
            <a:r>
              <a:rPr lang="fr-FR" dirty="0">
                <a:latin typeface="Montserrat"/>
                <a:ea typeface="Montserrat"/>
                <a:cs typeface="Montserrat"/>
                <a:sym typeface="Montserrat"/>
              </a:rPr>
              <a:t>L’API renvoie la réponse au </a:t>
            </a:r>
            <a:r>
              <a:rPr lang="fr-FR" dirty="0" err="1">
                <a:latin typeface="Montserrat"/>
                <a:ea typeface="Montserrat"/>
                <a:cs typeface="Montserrat"/>
                <a:sym typeface="Montserrat"/>
              </a:rPr>
              <a:t>front-end</a:t>
            </a:r>
            <a:endParaRPr dirty="0">
              <a:latin typeface="Montserrat"/>
              <a:ea typeface="Montserrat"/>
              <a:cs typeface="Montserrat"/>
              <a:sym typeface="Montserrat"/>
            </a:endParaRPr>
          </a:p>
          <a:p>
            <a:pPr marL="0" lvl="0" indent="0" algn="l" rtl="0">
              <a:spcBef>
                <a:spcPts val="1200"/>
              </a:spcBef>
              <a:spcAft>
                <a:spcPts val="0"/>
              </a:spcAft>
              <a:buNone/>
            </a:pPr>
            <a:endParaRPr dirty="0">
              <a:latin typeface="Montserrat"/>
              <a:ea typeface="Montserrat"/>
              <a:cs typeface="Montserrat"/>
              <a:sym typeface="Montserrat"/>
            </a:endParaRPr>
          </a:p>
          <a:p>
            <a:pPr marL="457200" lvl="0" indent="0" algn="l" rtl="0">
              <a:spcBef>
                <a:spcPts val="1200"/>
              </a:spcBef>
              <a:spcAft>
                <a:spcPts val="1200"/>
              </a:spcAft>
              <a:buNone/>
            </a:pPr>
            <a:endParaRPr dirty="0">
              <a:latin typeface="Montserrat"/>
              <a:ea typeface="Montserrat"/>
              <a:cs typeface="Montserrat"/>
              <a:sym typeface="Montserrat"/>
            </a:endParaRPr>
          </a:p>
        </p:txBody>
      </p:sp>
      <p:sp>
        <p:nvSpPr>
          <p:cNvPr id="103" name="Google Shape;103;p19"/>
          <p:cNvSpPr txBox="1"/>
          <p:nvPr/>
        </p:nvSpPr>
        <p:spPr>
          <a:xfrm>
            <a:off x="0" y="0"/>
            <a:ext cx="49116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fr" sz="1000">
                <a:solidFill>
                  <a:schemeClr val="dk2"/>
                </a:solidFill>
                <a:latin typeface="Montserrat"/>
                <a:ea typeface="Montserrat"/>
                <a:cs typeface="Montserrat"/>
                <a:sym typeface="Montserrat"/>
              </a:rPr>
              <a:t>Présentation de l’usage du no-code</a:t>
            </a:r>
            <a:endParaRPr sz="1000"/>
          </a:p>
        </p:txBody>
      </p:sp>
      <p:sp>
        <p:nvSpPr>
          <p:cNvPr id="105" name="Google Shape;105;p19"/>
          <p:cNvSpPr/>
          <p:nvPr/>
        </p:nvSpPr>
        <p:spPr>
          <a:xfrm>
            <a:off x="-4800" y="0"/>
            <a:ext cx="9153600" cy="239700"/>
          </a:xfrm>
          <a:prstGeom prst="rect">
            <a:avLst/>
          </a:prstGeom>
          <a:solidFill>
            <a:srgbClr val="FCE5CD"/>
          </a:solidFill>
          <a:ln w="9525" cap="flat" cmpd="sng">
            <a:solidFill>
              <a:srgbClr val="F7E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06" name="Google Shape;106;p19"/>
          <p:cNvPicPr preferRelativeResize="0"/>
          <p:nvPr/>
        </p:nvPicPr>
        <p:blipFill>
          <a:blip r:embed="rId3">
            <a:alphaModFix/>
          </a:blip>
          <a:stretch>
            <a:fillRect/>
          </a:stretch>
        </p:blipFill>
        <p:spPr>
          <a:xfrm>
            <a:off x="8469575" y="-4"/>
            <a:ext cx="674425" cy="340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5FE4AE-8011-A1A6-CF9B-0E2004EAFC98}"/>
              </a:ext>
            </a:extLst>
          </p:cNvPr>
          <p:cNvSpPr/>
          <p:nvPr/>
        </p:nvSpPr>
        <p:spPr>
          <a:xfrm>
            <a:off x="3486150" y="1308962"/>
            <a:ext cx="2400300" cy="97155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Interface </a:t>
            </a:r>
            <a:r>
              <a:rPr lang="fr-FR" dirty="0" err="1">
                <a:solidFill>
                  <a:schemeClr val="tx1"/>
                </a:solidFill>
              </a:rPr>
              <a:t>React</a:t>
            </a:r>
            <a:r>
              <a:rPr lang="fr-FR" dirty="0">
                <a:solidFill>
                  <a:schemeClr val="tx1"/>
                </a:solidFill>
              </a:rPr>
              <a:t> (</a:t>
            </a:r>
            <a:r>
              <a:rPr lang="fr-FR" dirty="0" err="1">
                <a:solidFill>
                  <a:schemeClr val="tx1"/>
                </a:solidFill>
              </a:rPr>
              <a:t>Front-end</a:t>
            </a:r>
            <a:r>
              <a:rPr lang="fr-FR" dirty="0">
                <a:solidFill>
                  <a:schemeClr val="tx1"/>
                </a:solidFill>
              </a:rPr>
              <a:t>)</a:t>
            </a:r>
          </a:p>
          <a:p>
            <a:pPr algn="ctr"/>
            <a:r>
              <a:rPr lang="fr-FR" dirty="0">
                <a:solidFill>
                  <a:schemeClr val="tx1"/>
                </a:solidFill>
              </a:rPr>
              <a:t>- Axios , envoies requêtes HTTP</a:t>
            </a:r>
          </a:p>
          <a:p>
            <a:pPr algn="ctr"/>
            <a:r>
              <a:rPr lang="fr-FR" dirty="0">
                <a:solidFill>
                  <a:schemeClr val="tx1"/>
                </a:solidFill>
              </a:rPr>
              <a:t>(ex: ajout de plat)</a:t>
            </a:r>
          </a:p>
        </p:txBody>
      </p:sp>
      <p:sp>
        <p:nvSpPr>
          <p:cNvPr id="2" name="Titre 1">
            <a:extLst>
              <a:ext uri="{FF2B5EF4-FFF2-40B4-BE49-F238E27FC236}">
                <a16:creationId xmlns:a16="http://schemas.microsoft.com/office/drawing/2014/main" id="{596CEF6F-A6FB-5AEA-DB55-5F82F40834C7}"/>
              </a:ext>
            </a:extLst>
          </p:cNvPr>
          <p:cNvSpPr>
            <a:spLocks noGrp="1"/>
          </p:cNvSpPr>
          <p:nvPr>
            <p:ph type="title"/>
          </p:nvPr>
        </p:nvSpPr>
        <p:spPr/>
        <p:txBody>
          <a:bodyPr>
            <a:normAutofit fontScale="90000"/>
          </a:bodyPr>
          <a:lstStyle/>
          <a:p>
            <a:r>
              <a:rPr lang="fr-FR" b="1" dirty="0">
                <a:latin typeface="Montserrat" panose="00000500000000000000" pitchFamily="2" charset="0"/>
              </a:rPr>
              <a:t>Schéma explicatif</a:t>
            </a:r>
          </a:p>
        </p:txBody>
      </p:sp>
      <p:sp>
        <p:nvSpPr>
          <p:cNvPr id="5" name="Ellipse 4">
            <a:extLst>
              <a:ext uri="{FF2B5EF4-FFF2-40B4-BE49-F238E27FC236}">
                <a16:creationId xmlns:a16="http://schemas.microsoft.com/office/drawing/2014/main" id="{C822B62A-6056-2D52-1DED-371261BBAA4F}"/>
              </a:ext>
            </a:extLst>
          </p:cNvPr>
          <p:cNvSpPr/>
          <p:nvPr/>
        </p:nvSpPr>
        <p:spPr>
          <a:xfrm>
            <a:off x="3580039" y="69013"/>
            <a:ext cx="1983921" cy="889226"/>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Utilisateur</a:t>
            </a:r>
          </a:p>
        </p:txBody>
      </p:sp>
      <p:sp>
        <p:nvSpPr>
          <p:cNvPr id="6" name="Rectangle 5">
            <a:extLst>
              <a:ext uri="{FF2B5EF4-FFF2-40B4-BE49-F238E27FC236}">
                <a16:creationId xmlns:a16="http://schemas.microsoft.com/office/drawing/2014/main" id="{AE775D2D-ADAC-ED99-5D4F-C617AC05E48B}"/>
              </a:ext>
            </a:extLst>
          </p:cNvPr>
          <p:cNvSpPr/>
          <p:nvPr/>
        </p:nvSpPr>
        <p:spPr>
          <a:xfrm>
            <a:off x="3486150" y="2571750"/>
            <a:ext cx="2400300" cy="97155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Express JS (</a:t>
            </a:r>
            <a:r>
              <a:rPr lang="fr-FR" dirty="0" err="1">
                <a:solidFill>
                  <a:schemeClr val="tx1"/>
                </a:solidFill>
              </a:rPr>
              <a:t>Back-end</a:t>
            </a:r>
            <a:r>
              <a:rPr lang="fr-FR" dirty="0">
                <a:solidFill>
                  <a:schemeClr val="tx1"/>
                </a:solidFill>
              </a:rPr>
              <a:t>)</a:t>
            </a:r>
          </a:p>
          <a:p>
            <a:pPr algn="ctr"/>
            <a:r>
              <a:rPr lang="fr-FR" dirty="0">
                <a:solidFill>
                  <a:schemeClr val="tx1"/>
                </a:solidFill>
              </a:rPr>
              <a:t>- Réception requête HTTP </a:t>
            </a:r>
          </a:p>
          <a:p>
            <a:pPr algn="ctr"/>
            <a:r>
              <a:rPr lang="fr-FR" dirty="0">
                <a:solidFill>
                  <a:schemeClr val="tx1"/>
                </a:solidFill>
              </a:rPr>
              <a:t>Vérif : user connecté ?</a:t>
            </a:r>
          </a:p>
        </p:txBody>
      </p:sp>
      <p:sp>
        <p:nvSpPr>
          <p:cNvPr id="7" name="Rectangle 6">
            <a:extLst>
              <a:ext uri="{FF2B5EF4-FFF2-40B4-BE49-F238E27FC236}">
                <a16:creationId xmlns:a16="http://schemas.microsoft.com/office/drawing/2014/main" id="{2435BE89-9FD3-4BC2-5307-C81A9A351CF9}"/>
              </a:ext>
            </a:extLst>
          </p:cNvPr>
          <p:cNvSpPr/>
          <p:nvPr/>
        </p:nvSpPr>
        <p:spPr>
          <a:xfrm>
            <a:off x="3486150" y="3894024"/>
            <a:ext cx="2400300" cy="113898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solidFill>
                  <a:schemeClr val="tx1"/>
                </a:solidFill>
              </a:rPr>
              <a:t>Database</a:t>
            </a:r>
            <a:r>
              <a:rPr lang="fr-FR" dirty="0">
                <a:solidFill>
                  <a:schemeClr val="tx1"/>
                </a:solidFill>
              </a:rPr>
              <a:t> (MongoDB)</a:t>
            </a:r>
          </a:p>
          <a:p>
            <a:pPr algn="ctr"/>
            <a:r>
              <a:rPr lang="fr-FR" dirty="0">
                <a:solidFill>
                  <a:schemeClr val="tx1"/>
                </a:solidFill>
              </a:rPr>
              <a:t>- Enregistrement du plat </a:t>
            </a:r>
          </a:p>
          <a:p>
            <a:pPr algn="ctr"/>
            <a:r>
              <a:rPr lang="fr-FR" dirty="0">
                <a:solidFill>
                  <a:schemeClr val="tx1"/>
                </a:solidFill>
              </a:rPr>
              <a:t>- MongoDB renvoie une confirmation au backend</a:t>
            </a:r>
          </a:p>
          <a:p>
            <a:pPr algn="ctr"/>
            <a:endParaRPr lang="fr-FR" dirty="0">
              <a:solidFill>
                <a:schemeClr val="tx1"/>
              </a:solidFill>
            </a:endParaRPr>
          </a:p>
        </p:txBody>
      </p:sp>
      <p:cxnSp>
        <p:nvCxnSpPr>
          <p:cNvPr id="17" name="Connecteur droit avec flèche 16">
            <a:extLst>
              <a:ext uri="{FF2B5EF4-FFF2-40B4-BE49-F238E27FC236}">
                <a16:creationId xmlns:a16="http://schemas.microsoft.com/office/drawing/2014/main" id="{5B031DF0-5DDD-C347-047B-680EA8D1ED95}"/>
              </a:ext>
            </a:extLst>
          </p:cNvPr>
          <p:cNvCxnSpPr>
            <a:stCxn id="5" idx="4"/>
          </p:cNvCxnSpPr>
          <p:nvPr/>
        </p:nvCxnSpPr>
        <p:spPr>
          <a:xfrm flipH="1">
            <a:off x="4571999" y="958239"/>
            <a:ext cx="1" cy="2664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cteur droit avec flèche 18">
            <a:extLst>
              <a:ext uri="{FF2B5EF4-FFF2-40B4-BE49-F238E27FC236}">
                <a16:creationId xmlns:a16="http://schemas.microsoft.com/office/drawing/2014/main" id="{F153A763-4EC1-4904-E943-A06A732B5844}"/>
              </a:ext>
            </a:extLst>
          </p:cNvPr>
          <p:cNvCxnSpPr/>
          <p:nvPr/>
        </p:nvCxnSpPr>
        <p:spPr>
          <a:xfrm>
            <a:off x="4571999" y="2302329"/>
            <a:ext cx="0" cy="2041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Connecteur droit avec flèche 20">
            <a:extLst>
              <a:ext uri="{FF2B5EF4-FFF2-40B4-BE49-F238E27FC236}">
                <a16:creationId xmlns:a16="http://schemas.microsoft.com/office/drawing/2014/main" id="{F72DB1E5-7E45-D1AB-A2F4-53CC1074A50B}"/>
              </a:ext>
            </a:extLst>
          </p:cNvPr>
          <p:cNvCxnSpPr/>
          <p:nvPr/>
        </p:nvCxnSpPr>
        <p:spPr>
          <a:xfrm>
            <a:off x="4571999" y="3567793"/>
            <a:ext cx="0" cy="2530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Connecteur droit avec flèche 22">
            <a:extLst>
              <a:ext uri="{FF2B5EF4-FFF2-40B4-BE49-F238E27FC236}">
                <a16:creationId xmlns:a16="http://schemas.microsoft.com/office/drawing/2014/main" id="{41A10510-2812-A5D9-2016-42D92A4E4F51}"/>
              </a:ext>
            </a:extLst>
          </p:cNvPr>
          <p:cNvCxnSpPr>
            <a:cxnSpLocks/>
          </p:cNvCxnSpPr>
          <p:nvPr/>
        </p:nvCxnSpPr>
        <p:spPr>
          <a:xfrm flipV="1">
            <a:off x="5886450" y="3894024"/>
            <a:ext cx="1020536" cy="10045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a:extLst>
              <a:ext uri="{FF2B5EF4-FFF2-40B4-BE49-F238E27FC236}">
                <a16:creationId xmlns:a16="http://schemas.microsoft.com/office/drawing/2014/main" id="{0BD87B95-8D6C-B3E9-581B-B7599CF20CD9}"/>
              </a:ext>
            </a:extLst>
          </p:cNvPr>
          <p:cNvCxnSpPr>
            <a:cxnSpLocks/>
          </p:cNvCxnSpPr>
          <p:nvPr/>
        </p:nvCxnSpPr>
        <p:spPr>
          <a:xfrm flipH="1" flipV="1">
            <a:off x="5943600" y="1628946"/>
            <a:ext cx="1249135" cy="1959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 name="Rectangle 2">
            <a:extLst>
              <a:ext uri="{FF2B5EF4-FFF2-40B4-BE49-F238E27FC236}">
                <a16:creationId xmlns:a16="http://schemas.microsoft.com/office/drawing/2014/main" id="{3B09046C-5FD1-8D32-603B-2EC44093578C}"/>
              </a:ext>
            </a:extLst>
          </p:cNvPr>
          <p:cNvSpPr/>
          <p:nvPr/>
        </p:nvSpPr>
        <p:spPr>
          <a:xfrm>
            <a:off x="6302831" y="1928728"/>
            <a:ext cx="2767691" cy="186145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buClrTx/>
              <a:buFontTx/>
              <a:buChar char="•"/>
            </a:pPr>
            <a:r>
              <a:rPr lang="fr-FR" altLang="fr-FR" dirty="0">
                <a:solidFill>
                  <a:schemeClr val="tx1"/>
                </a:solidFill>
                <a:latin typeface="Arial" panose="020B0604020202020204" pitchFamily="34" charset="0"/>
              </a:rPr>
              <a:t>Retour vers </a:t>
            </a:r>
            <a:r>
              <a:rPr lang="fr-FR" altLang="fr-FR" dirty="0" err="1">
                <a:solidFill>
                  <a:schemeClr val="tx1"/>
                </a:solidFill>
                <a:latin typeface="Arial" panose="020B0604020202020204" pitchFamily="34" charset="0"/>
              </a:rPr>
              <a:t>Front-end</a:t>
            </a:r>
            <a:r>
              <a:rPr lang="fr-FR" altLang="fr-FR" dirty="0">
                <a:solidFill>
                  <a:schemeClr val="tx1"/>
                </a:solidFill>
                <a:latin typeface="Arial" panose="020B0604020202020204" pitchFamily="34" charset="0"/>
              </a:rPr>
              <a:t> :</a:t>
            </a:r>
          </a:p>
          <a:p>
            <a:pPr lvl="0" eaLnBrk="0" fontAlgn="base" hangingPunct="0">
              <a:spcBef>
                <a:spcPct val="0"/>
              </a:spcBef>
              <a:spcAft>
                <a:spcPct val="0"/>
              </a:spcAft>
              <a:buClrTx/>
              <a:buFontTx/>
              <a:buChar char="•"/>
            </a:pPr>
            <a:r>
              <a:rPr lang="fr-FR" altLang="fr-FR" dirty="0" err="1">
                <a:solidFill>
                  <a:schemeClr val="tx1"/>
                </a:solidFill>
                <a:latin typeface="Arial" panose="020B0604020202020204" pitchFamily="34" charset="0"/>
              </a:rPr>
              <a:t>React</a:t>
            </a:r>
            <a:r>
              <a:rPr lang="fr-FR" altLang="fr-FR" dirty="0">
                <a:solidFill>
                  <a:schemeClr val="tx1"/>
                </a:solidFill>
                <a:latin typeface="Arial" panose="020B0604020202020204" pitchFamily="34" charset="0"/>
              </a:rPr>
              <a:t> :</a:t>
            </a:r>
          </a:p>
          <a:p>
            <a:pPr lvl="0" eaLnBrk="0" fontAlgn="base" hangingPunct="0">
              <a:spcBef>
                <a:spcPct val="0"/>
              </a:spcBef>
              <a:spcAft>
                <a:spcPct val="0"/>
              </a:spcAft>
              <a:buClrTx/>
              <a:buFontTx/>
              <a:buChar char="•"/>
            </a:pPr>
            <a:r>
              <a:rPr lang="fr-FR" altLang="fr-FR" dirty="0">
                <a:solidFill>
                  <a:schemeClr val="tx1"/>
                </a:solidFill>
                <a:latin typeface="Arial" panose="020B0604020202020204" pitchFamily="34" charset="0"/>
              </a:rPr>
              <a:t>met à jour l’interface</a:t>
            </a:r>
          </a:p>
          <a:p>
            <a:pPr lvl="0" eaLnBrk="0" fontAlgn="base" hangingPunct="0">
              <a:spcBef>
                <a:spcPct val="0"/>
              </a:spcBef>
              <a:spcAft>
                <a:spcPct val="0"/>
              </a:spcAft>
              <a:buClrTx/>
              <a:buFontTx/>
              <a:buChar char="•"/>
            </a:pPr>
            <a:r>
              <a:rPr lang="fr-FR" altLang="fr-FR" dirty="0">
                <a:solidFill>
                  <a:schemeClr val="tx1"/>
                </a:solidFill>
                <a:latin typeface="Arial" panose="020B0604020202020204" pitchFamily="34" charset="0"/>
              </a:rPr>
              <a:t>affiche le nouveau plat dans la liste</a:t>
            </a:r>
          </a:p>
          <a:p>
            <a:pPr lvl="0" eaLnBrk="0" fontAlgn="base" hangingPunct="0">
              <a:spcBef>
                <a:spcPct val="0"/>
              </a:spcBef>
              <a:spcAft>
                <a:spcPct val="0"/>
              </a:spcAft>
              <a:buClrTx/>
            </a:pPr>
            <a:r>
              <a:rPr lang="fr-FR" altLang="fr-FR" dirty="0">
                <a:solidFill>
                  <a:schemeClr val="tx1"/>
                </a:solidFill>
                <a:latin typeface="Arial" panose="020B0604020202020204" pitchFamily="34" charset="0"/>
              </a:rPr>
              <a:t>Le </a:t>
            </a:r>
            <a:r>
              <a:rPr lang="fr-FR" altLang="fr-FR" dirty="0" err="1">
                <a:solidFill>
                  <a:schemeClr val="tx1"/>
                </a:solidFill>
                <a:latin typeface="Arial" panose="020B0604020202020204" pitchFamily="34" charset="0"/>
              </a:rPr>
              <a:t>back-end</a:t>
            </a:r>
            <a:r>
              <a:rPr lang="fr-FR" altLang="fr-FR" dirty="0">
                <a:solidFill>
                  <a:schemeClr val="tx1"/>
                </a:solidFill>
                <a:latin typeface="Arial" panose="020B0604020202020204" pitchFamily="34" charset="0"/>
              </a:rPr>
              <a:t> renvoie </a:t>
            </a:r>
            <a:r>
              <a:rPr lang="fr-FR" altLang="fr-FR" dirty="0" err="1">
                <a:solidFill>
                  <a:schemeClr val="tx1"/>
                </a:solidFill>
                <a:latin typeface="Arial" panose="020B0604020202020204" pitchFamily="34" charset="0"/>
              </a:rPr>
              <a:t>reponse</a:t>
            </a:r>
            <a:r>
              <a:rPr lang="fr-FR" altLang="fr-FR" dirty="0">
                <a:solidFill>
                  <a:schemeClr val="tx1"/>
                </a:solidFill>
                <a:latin typeface="Arial" panose="020B0604020202020204" pitchFamily="34" charset="0"/>
              </a:rPr>
              <a:t> JSON : </a:t>
            </a:r>
            <a:r>
              <a:rPr lang="fr-FR" altLang="fr-FR" dirty="0" err="1">
                <a:solidFill>
                  <a:schemeClr val="tx1"/>
                </a:solidFill>
                <a:latin typeface="Arial" panose="020B0604020202020204" pitchFamily="34" charset="0"/>
              </a:rPr>
              <a:t>succés</a:t>
            </a:r>
            <a:r>
              <a:rPr lang="fr-FR" altLang="fr-FR" dirty="0">
                <a:solidFill>
                  <a:schemeClr val="tx1"/>
                </a:solidFill>
                <a:latin typeface="Arial" panose="020B0604020202020204" pitchFamily="34" charset="0"/>
              </a:rPr>
              <a:t> ou erreur au </a:t>
            </a:r>
            <a:r>
              <a:rPr lang="fr-FR" altLang="fr-FR" dirty="0" err="1">
                <a:solidFill>
                  <a:schemeClr val="tx1"/>
                </a:solidFill>
                <a:latin typeface="Arial" panose="020B0604020202020204" pitchFamily="34" charset="0"/>
              </a:rPr>
              <a:t>front-end</a:t>
            </a:r>
            <a:endParaRPr lang="fr-FR" altLang="fr-FR" dirty="0">
              <a:solidFill>
                <a:schemeClr val="tx1"/>
              </a:solidFill>
              <a:latin typeface="Arial" panose="020B0604020202020204" pitchFamily="34" charset="0"/>
            </a:endParaRPr>
          </a:p>
        </p:txBody>
      </p:sp>
    </p:spTree>
    <p:extLst>
      <p:ext uri="{BB962C8B-B14F-4D97-AF65-F5344CB8AC3E}">
        <p14:creationId xmlns:p14="http://schemas.microsoft.com/office/powerpoint/2010/main" val="3559538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fr" sz="2000" b="1" dirty="0">
                <a:latin typeface="Montserrat"/>
                <a:ea typeface="Montserrat"/>
                <a:cs typeface="Montserrat"/>
                <a:sym typeface="Montserrat"/>
              </a:rPr>
              <a:t>Veille Technologique</a:t>
            </a:r>
            <a:endParaRPr sz="2000" b="1" dirty="0">
              <a:solidFill>
                <a:schemeClr val="dk2"/>
              </a:solidFill>
              <a:latin typeface="Montserrat"/>
              <a:ea typeface="Montserrat"/>
              <a:cs typeface="Montserrat"/>
              <a:sym typeface="Montserrat"/>
            </a:endParaRPr>
          </a:p>
        </p:txBody>
      </p:sp>
      <p:sp>
        <p:nvSpPr>
          <p:cNvPr id="112" name="Google Shape;112;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dirty="0">
              <a:latin typeface="Montserrat"/>
              <a:ea typeface="Montserrat"/>
              <a:cs typeface="Montserrat"/>
              <a:sym typeface="Montserrat"/>
            </a:endParaRPr>
          </a:p>
          <a:p>
            <a:pPr marL="0" lvl="0" indent="0" algn="l" rtl="0">
              <a:spcBef>
                <a:spcPts val="1200"/>
              </a:spcBef>
              <a:spcAft>
                <a:spcPts val="0"/>
              </a:spcAft>
              <a:buNone/>
            </a:pPr>
            <a:endParaRPr dirty="0">
              <a:latin typeface="Montserrat"/>
              <a:ea typeface="Montserrat"/>
              <a:cs typeface="Montserrat"/>
              <a:sym typeface="Montserrat"/>
            </a:endParaRPr>
          </a:p>
          <a:p>
            <a:pPr marL="457200" lvl="0" indent="0" algn="l" rtl="0">
              <a:spcBef>
                <a:spcPts val="1200"/>
              </a:spcBef>
              <a:spcAft>
                <a:spcPts val="1200"/>
              </a:spcAft>
              <a:buNone/>
            </a:pPr>
            <a:endParaRPr dirty="0">
              <a:latin typeface="Montserrat"/>
              <a:ea typeface="Montserrat"/>
              <a:cs typeface="Montserrat"/>
              <a:sym typeface="Montserrat"/>
            </a:endParaRPr>
          </a:p>
        </p:txBody>
      </p:sp>
      <p:sp>
        <p:nvSpPr>
          <p:cNvPr id="113" name="Google Shape;113;p20"/>
          <p:cNvSpPr txBox="1"/>
          <p:nvPr/>
        </p:nvSpPr>
        <p:spPr>
          <a:xfrm>
            <a:off x="0" y="0"/>
            <a:ext cx="49116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fr" sz="1000">
                <a:solidFill>
                  <a:schemeClr val="dk2"/>
                </a:solidFill>
                <a:latin typeface="Montserrat"/>
                <a:ea typeface="Montserrat"/>
                <a:cs typeface="Montserrat"/>
                <a:sym typeface="Montserrat"/>
              </a:rPr>
              <a:t>Présentation de l’usage du no-code</a:t>
            </a:r>
            <a:endParaRPr sz="1000"/>
          </a:p>
        </p:txBody>
      </p:sp>
      <p:sp>
        <p:nvSpPr>
          <p:cNvPr id="114" name="Google Shape;114;p20"/>
          <p:cNvSpPr txBox="1"/>
          <p:nvPr/>
        </p:nvSpPr>
        <p:spPr>
          <a:xfrm>
            <a:off x="411750" y="850947"/>
            <a:ext cx="8320500" cy="1112582"/>
          </a:xfrm>
          <a:prstGeom prst="rect">
            <a:avLst/>
          </a:prstGeom>
          <a:noFill/>
          <a:ln>
            <a:noFill/>
          </a:ln>
        </p:spPr>
        <p:txBody>
          <a:bodyPr spcFirstLastPara="1" wrap="square" lIns="91425" tIns="91425" rIns="91425" bIns="91425" anchor="t" anchorCtr="0">
            <a:spAutoFit/>
          </a:bodyPr>
          <a:lstStyle/>
          <a:p>
            <a:pPr marL="457200" lvl="0" indent="-323850" algn="l" rtl="0">
              <a:lnSpc>
                <a:spcPct val="150000"/>
              </a:lnSpc>
              <a:spcBef>
                <a:spcPts val="0"/>
              </a:spcBef>
              <a:spcAft>
                <a:spcPts val="0"/>
              </a:spcAft>
              <a:buClr>
                <a:srgbClr val="0D0D0D"/>
              </a:buClr>
              <a:buSzPts val="1500"/>
              <a:buFont typeface="Montserrat"/>
              <a:buChar char="●"/>
            </a:pPr>
            <a:r>
              <a:rPr lang="fr-FR" sz="1500" dirty="0">
                <a:solidFill>
                  <a:srgbClr val="0D0D0D"/>
                </a:solidFill>
                <a:highlight>
                  <a:srgbClr val="FFFFFF"/>
                </a:highlight>
                <a:latin typeface="Montserrat"/>
                <a:ea typeface="Montserrat"/>
                <a:cs typeface="Montserrat"/>
                <a:sym typeface="Montserrat"/>
              </a:rPr>
              <a:t>Captures d’écran de la veille </a:t>
            </a:r>
          </a:p>
          <a:p>
            <a:pPr marL="0" lvl="0" indent="0" algn="l" rtl="0">
              <a:lnSpc>
                <a:spcPct val="115000"/>
              </a:lnSpc>
              <a:spcBef>
                <a:spcPts val="0"/>
              </a:spcBef>
              <a:spcAft>
                <a:spcPts val="0"/>
              </a:spcAft>
              <a:buNone/>
            </a:pPr>
            <a:endParaRPr sz="1200" i="1" dirty="0">
              <a:solidFill>
                <a:schemeClr val="dk1"/>
              </a:solidFill>
              <a:latin typeface="Montserrat"/>
              <a:ea typeface="Montserrat"/>
              <a:cs typeface="Montserrat"/>
              <a:sym typeface="Montserrat"/>
            </a:endParaRPr>
          </a:p>
          <a:p>
            <a:pPr marL="0" lvl="0" indent="0" algn="l" rtl="0">
              <a:spcBef>
                <a:spcPts val="1200"/>
              </a:spcBef>
              <a:spcAft>
                <a:spcPts val="0"/>
              </a:spcAft>
              <a:buNone/>
            </a:pPr>
            <a:endParaRPr dirty="0"/>
          </a:p>
        </p:txBody>
      </p:sp>
      <p:sp>
        <p:nvSpPr>
          <p:cNvPr id="115" name="Google Shape;115;p20"/>
          <p:cNvSpPr/>
          <p:nvPr/>
        </p:nvSpPr>
        <p:spPr>
          <a:xfrm>
            <a:off x="-4800" y="0"/>
            <a:ext cx="9153600" cy="239700"/>
          </a:xfrm>
          <a:prstGeom prst="rect">
            <a:avLst/>
          </a:prstGeom>
          <a:solidFill>
            <a:srgbClr val="FCE5CD"/>
          </a:solidFill>
          <a:ln w="9525" cap="flat" cmpd="sng">
            <a:solidFill>
              <a:srgbClr val="F7E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16" name="Google Shape;116;p20"/>
          <p:cNvPicPr preferRelativeResize="0"/>
          <p:nvPr/>
        </p:nvPicPr>
        <p:blipFill>
          <a:blip r:embed="rId3">
            <a:alphaModFix/>
          </a:blip>
          <a:stretch>
            <a:fillRect/>
          </a:stretch>
        </p:blipFill>
        <p:spPr>
          <a:xfrm>
            <a:off x="8469575" y="-4"/>
            <a:ext cx="674425" cy="340550"/>
          </a:xfrm>
          <a:prstGeom prst="rect">
            <a:avLst/>
          </a:prstGeom>
          <a:noFill/>
          <a:ln>
            <a:noFill/>
          </a:ln>
        </p:spPr>
      </p:pic>
      <p:pic>
        <p:nvPicPr>
          <p:cNvPr id="3" name="Image 2">
            <a:extLst>
              <a:ext uri="{FF2B5EF4-FFF2-40B4-BE49-F238E27FC236}">
                <a16:creationId xmlns:a16="http://schemas.microsoft.com/office/drawing/2014/main" id="{884E4C0F-C2E1-4A23-2659-010803796055}"/>
              </a:ext>
            </a:extLst>
          </p:cNvPr>
          <p:cNvPicPr>
            <a:picLocks noChangeAspect="1"/>
          </p:cNvPicPr>
          <p:nvPr/>
        </p:nvPicPr>
        <p:blipFill>
          <a:blip r:embed="rId4"/>
          <a:stretch>
            <a:fillRect/>
          </a:stretch>
        </p:blipFill>
        <p:spPr>
          <a:xfrm>
            <a:off x="922564" y="1423647"/>
            <a:ext cx="6613071" cy="34946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313DD3-B38F-8263-5647-6E684B9C24FF}"/>
              </a:ext>
            </a:extLst>
          </p:cNvPr>
          <p:cNvSpPr>
            <a:spLocks noGrp="1"/>
          </p:cNvSpPr>
          <p:nvPr>
            <p:ph type="title"/>
          </p:nvPr>
        </p:nvSpPr>
        <p:spPr/>
        <p:txBody>
          <a:bodyPr>
            <a:normAutofit fontScale="90000"/>
          </a:bodyPr>
          <a:lstStyle/>
          <a:p>
            <a:r>
              <a:rPr lang="fr-FR" b="1" dirty="0">
                <a:solidFill>
                  <a:srgbClr val="0D0D0D"/>
                </a:solidFill>
                <a:highlight>
                  <a:srgbClr val="FFFFFF"/>
                </a:highlight>
                <a:latin typeface="Montserrat"/>
                <a:ea typeface="Montserrat"/>
                <a:cs typeface="Montserrat"/>
                <a:sym typeface="Montserrat"/>
              </a:rPr>
              <a:t>Captures d’écran de la veille </a:t>
            </a:r>
            <a:br>
              <a:rPr lang="fr-FR" dirty="0">
                <a:solidFill>
                  <a:srgbClr val="0D0D0D"/>
                </a:solidFill>
                <a:highlight>
                  <a:srgbClr val="FFFFFF"/>
                </a:highlight>
                <a:latin typeface="Montserrat"/>
                <a:ea typeface="Montserrat"/>
                <a:cs typeface="Montserrat"/>
                <a:sym typeface="Montserrat"/>
              </a:rPr>
            </a:br>
            <a:endParaRPr lang="fr-FR" dirty="0"/>
          </a:p>
        </p:txBody>
      </p:sp>
      <p:sp>
        <p:nvSpPr>
          <p:cNvPr id="3" name="Espace réservé du texte 2">
            <a:extLst>
              <a:ext uri="{FF2B5EF4-FFF2-40B4-BE49-F238E27FC236}">
                <a16:creationId xmlns:a16="http://schemas.microsoft.com/office/drawing/2014/main" id="{733BE949-FDC0-1F67-06E0-3A506E5CF3E3}"/>
              </a:ext>
            </a:extLst>
          </p:cNvPr>
          <p:cNvSpPr>
            <a:spLocks noGrp="1"/>
          </p:cNvSpPr>
          <p:nvPr>
            <p:ph type="body" idx="1"/>
          </p:nvPr>
        </p:nvSpPr>
        <p:spPr/>
        <p:txBody>
          <a:bodyPr/>
          <a:lstStyle/>
          <a:p>
            <a:endParaRPr lang="fr-FR" dirty="0"/>
          </a:p>
        </p:txBody>
      </p:sp>
      <p:pic>
        <p:nvPicPr>
          <p:cNvPr id="5" name="Image 4">
            <a:extLst>
              <a:ext uri="{FF2B5EF4-FFF2-40B4-BE49-F238E27FC236}">
                <a16:creationId xmlns:a16="http://schemas.microsoft.com/office/drawing/2014/main" id="{3849B9C2-8204-AFE5-FEE8-856731D26632}"/>
              </a:ext>
            </a:extLst>
          </p:cNvPr>
          <p:cNvPicPr>
            <a:picLocks noChangeAspect="1"/>
          </p:cNvPicPr>
          <p:nvPr/>
        </p:nvPicPr>
        <p:blipFill>
          <a:blip r:embed="rId2"/>
          <a:stretch>
            <a:fillRect/>
          </a:stretch>
        </p:blipFill>
        <p:spPr>
          <a:xfrm>
            <a:off x="311700" y="1152475"/>
            <a:ext cx="8331438" cy="3878516"/>
          </a:xfrm>
          <a:prstGeom prst="rect">
            <a:avLst/>
          </a:prstGeom>
        </p:spPr>
      </p:pic>
    </p:spTree>
    <p:extLst>
      <p:ext uri="{BB962C8B-B14F-4D97-AF65-F5344CB8AC3E}">
        <p14:creationId xmlns:p14="http://schemas.microsoft.com/office/powerpoint/2010/main" val="1739328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AE6414-C954-CE5F-5D0A-29037B99EAFB}"/>
              </a:ext>
            </a:extLst>
          </p:cNvPr>
          <p:cNvSpPr>
            <a:spLocks noGrp="1"/>
          </p:cNvSpPr>
          <p:nvPr>
            <p:ph type="title"/>
          </p:nvPr>
        </p:nvSpPr>
        <p:spPr/>
        <p:txBody>
          <a:bodyPr>
            <a:normAutofit fontScale="90000"/>
          </a:bodyPr>
          <a:lstStyle/>
          <a:p>
            <a:r>
              <a:rPr lang="fr-FR" dirty="0"/>
              <a:t>Veille technologique</a:t>
            </a:r>
          </a:p>
        </p:txBody>
      </p:sp>
      <p:sp>
        <p:nvSpPr>
          <p:cNvPr id="3" name="Espace réservé du texte 2">
            <a:extLst>
              <a:ext uri="{FF2B5EF4-FFF2-40B4-BE49-F238E27FC236}">
                <a16:creationId xmlns:a16="http://schemas.microsoft.com/office/drawing/2014/main" id="{F7560C2D-561A-501C-0C14-656A86F48757}"/>
              </a:ext>
            </a:extLst>
          </p:cNvPr>
          <p:cNvSpPr>
            <a:spLocks noGrp="1"/>
          </p:cNvSpPr>
          <p:nvPr>
            <p:ph type="body" idx="1"/>
          </p:nvPr>
        </p:nvSpPr>
        <p:spPr/>
        <p:txBody>
          <a:bodyPr/>
          <a:lstStyle/>
          <a:p>
            <a:endParaRPr lang="fr-FR" dirty="0"/>
          </a:p>
        </p:txBody>
      </p:sp>
      <p:pic>
        <p:nvPicPr>
          <p:cNvPr id="5" name="Image 4">
            <a:extLst>
              <a:ext uri="{FF2B5EF4-FFF2-40B4-BE49-F238E27FC236}">
                <a16:creationId xmlns:a16="http://schemas.microsoft.com/office/drawing/2014/main" id="{DEF7B62D-2191-1A14-B985-21CB420E5569}"/>
              </a:ext>
            </a:extLst>
          </p:cNvPr>
          <p:cNvPicPr>
            <a:picLocks noChangeAspect="1"/>
          </p:cNvPicPr>
          <p:nvPr/>
        </p:nvPicPr>
        <p:blipFill>
          <a:blip r:embed="rId2"/>
          <a:stretch>
            <a:fillRect/>
          </a:stretch>
        </p:blipFill>
        <p:spPr>
          <a:xfrm>
            <a:off x="311700" y="1105862"/>
            <a:ext cx="7992851" cy="3463013"/>
          </a:xfrm>
          <a:prstGeom prst="rect">
            <a:avLst/>
          </a:prstGeom>
        </p:spPr>
      </p:pic>
    </p:spTree>
    <p:extLst>
      <p:ext uri="{BB962C8B-B14F-4D97-AF65-F5344CB8AC3E}">
        <p14:creationId xmlns:p14="http://schemas.microsoft.com/office/powerpoint/2010/main" val="2125040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696AC0-1A7C-EED9-18FD-ACC472D5AB2F}"/>
              </a:ext>
            </a:extLst>
          </p:cNvPr>
          <p:cNvSpPr>
            <a:spLocks noGrp="1"/>
          </p:cNvSpPr>
          <p:nvPr>
            <p:ph type="title"/>
          </p:nvPr>
        </p:nvSpPr>
        <p:spPr/>
        <p:txBody>
          <a:bodyPr>
            <a:normAutofit fontScale="90000"/>
          </a:bodyPr>
          <a:lstStyle/>
          <a:p>
            <a:r>
              <a:rPr lang="fr" b="1" dirty="0">
                <a:latin typeface="Montserrat"/>
                <a:ea typeface="Montserrat"/>
                <a:cs typeface="Montserrat"/>
                <a:sym typeface="Montserrat"/>
              </a:rPr>
              <a:t>Veille Technologique</a:t>
            </a:r>
            <a:endParaRPr lang="fr-FR" b="1" dirty="0"/>
          </a:p>
        </p:txBody>
      </p:sp>
      <p:sp>
        <p:nvSpPr>
          <p:cNvPr id="4" name="Rectangle 1">
            <a:extLst>
              <a:ext uri="{FF2B5EF4-FFF2-40B4-BE49-F238E27FC236}">
                <a16:creationId xmlns:a16="http://schemas.microsoft.com/office/drawing/2014/main" id="{697ED658-A796-2F38-263C-F2514DBF1589}"/>
              </a:ext>
            </a:extLst>
          </p:cNvPr>
          <p:cNvSpPr>
            <a:spLocks noGrp="1" noChangeArrowheads="1"/>
          </p:cNvSpPr>
          <p:nvPr>
            <p:ph type="body" idx="1"/>
          </p:nvPr>
        </p:nvSpPr>
        <p:spPr bwMode="auto">
          <a:xfrm>
            <a:off x="311700" y="875517"/>
            <a:ext cx="636744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fr-FR" altLang="fr-FR" sz="1800" b="0" i="0" u="none" strike="noStrike" cap="none" normalizeH="0" baseline="0" dirty="0">
                <a:ln>
                  <a:noFill/>
                </a:ln>
                <a:solidFill>
                  <a:schemeClr val="tx1"/>
                </a:solidFill>
                <a:effectLst/>
                <a:latin typeface="Montserrat" panose="00000500000000000000" pitchFamily="2" charset="0"/>
              </a:rPr>
              <a:t>Veille organisée autour de </a:t>
            </a:r>
            <a:r>
              <a:rPr kumimoji="0" lang="fr-FR" altLang="fr-FR" sz="1800" i="0" u="none" strike="noStrike" cap="none" normalizeH="0" baseline="0" dirty="0">
                <a:ln>
                  <a:noFill/>
                </a:ln>
                <a:solidFill>
                  <a:schemeClr val="tx1"/>
                </a:solidFill>
                <a:effectLst/>
                <a:latin typeface="Montserrat" panose="00000500000000000000" pitchFamily="2" charset="0"/>
              </a:rPr>
              <a:t>2 axes:</a:t>
            </a:r>
          </a:p>
          <a:p>
            <a:pPr marL="0" marR="0" lvl="0" indent="0" algn="l" defTabSz="914400" rtl="0" eaLnBrk="0" fontAlgn="base" latinLnBrk="0" hangingPunct="0">
              <a:lnSpc>
                <a:spcPct val="100000"/>
              </a:lnSpc>
              <a:spcBef>
                <a:spcPct val="0"/>
              </a:spcBef>
              <a:spcAft>
                <a:spcPct val="0"/>
              </a:spcAft>
              <a:buClrTx/>
              <a:buSzTx/>
              <a:buNone/>
              <a:tabLst/>
            </a:pPr>
            <a:endParaRPr kumimoji="0" lang="fr-FR" altLang="fr-FR" sz="1800" i="0" u="none" strike="noStrike" cap="none" normalizeH="0" baseline="0" dirty="0">
              <a:ln>
                <a:noFill/>
              </a:ln>
              <a:solidFill>
                <a:schemeClr val="tx1"/>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Montserrat" panose="00000500000000000000" pitchFamily="2" charset="0"/>
              </a:rPr>
              <a:t>Axe 1 : technologies liées au projet Menu Maker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Montserrat" panose="00000500000000000000" pitchFamily="2" charset="0"/>
              </a:rPr>
              <a:t>Axe 2 : développement web général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Montserrat" panose="00000500000000000000" pitchFamily="2" charset="0"/>
              </a:rPr>
              <a:t>Classement des sources par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Montserrat" panose="00000500000000000000" pitchFamily="2" charset="0"/>
              </a:rPr>
              <a:t>type (blog, YouTube, article, réseau social)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Montserrat" panose="00000500000000000000" pitchFamily="2" charset="0"/>
              </a:rPr>
              <a:t>domaine (</a:t>
            </a:r>
            <a:r>
              <a:rPr kumimoji="0" lang="fr-FR" altLang="fr-FR" sz="1800" b="0" i="0" u="none" strike="noStrike" cap="none" normalizeH="0" baseline="0" dirty="0" err="1">
                <a:ln>
                  <a:noFill/>
                </a:ln>
                <a:solidFill>
                  <a:schemeClr val="tx1"/>
                </a:solidFill>
                <a:effectLst/>
                <a:latin typeface="Montserrat" panose="00000500000000000000" pitchFamily="2" charset="0"/>
              </a:rPr>
              <a:t>front-end</a:t>
            </a:r>
            <a:r>
              <a:rPr kumimoji="0" lang="fr-FR" altLang="fr-FR" sz="1800" b="0" i="0" u="none" strike="noStrike" cap="none" normalizeH="0" baseline="0" dirty="0">
                <a:ln>
                  <a:noFill/>
                </a:ln>
                <a:solidFill>
                  <a:schemeClr val="tx1"/>
                </a:solidFill>
                <a:effectLst/>
                <a:latin typeface="Montserrat" panose="00000500000000000000" pitchFamily="2" charset="0"/>
              </a:rPr>
              <a:t>, </a:t>
            </a:r>
            <a:r>
              <a:rPr kumimoji="0" lang="fr-FR" altLang="fr-FR" sz="1800" b="0" i="0" u="none" strike="noStrike" cap="none" normalizeH="0" baseline="0" dirty="0" err="1">
                <a:ln>
                  <a:noFill/>
                </a:ln>
                <a:solidFill>
                  <a:schemeClr val="tx1"/>
                </a:solidFill>
                <a:effectLst/>
                <a:latin typeface="Montserrat" panose="00000500000000000000" pitchFamily="2" charset="0"/>
              </a:rPr>
              <a:t>back-end</a:t>
            </a:r>
            <a:r>
              <a:rPr kumimoji="0" lang="fr-FR" altLang="fr-FR" sz="1800" b="0" i="0" u="none" strike="noStrike" cap="none" normalizeH="0" baseline="0" dirty="0">
                <a:ln>
                  <a:noFill/>
                </a:ln>
                <a:solidFill>
                  <a:schemeClr val="tx1"/>
                </a:solidFill>
                <a:effectLst/>
                <a:latin typeface="Montserrat" panose="00000500000000000000" pitchFamily="2" charset="0"/>
              </a:rPr>
              <a:t>, sécurité, accessibilité)</a:t>
            </a:r>
            <a:endParaRPr lang="fr-FR" altLang="fr-FR" dirty="0">
              <a:solidFill>
                <a:schemeClr val="tx1"/>
              </a:solidFill>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fr-FR" altLang="fr-FR" sz="1800" b="0" i="0" u="none" strike="noStrike" cap="none" normalizeH="0" baseline="0" dirty="0">
              <a:ln>
                <a:noFill/>
              </a:ln>
              <a:solidFill>
                <a:schemeClr val="tx1"/>
              </a:solidFill>
              <a:effectLst/>
              <a:latin typeface="Montserrat"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Montserrat" panose="00000500000000000000" pitchFamily="2" charset="0"/>
              </a:rPr>
              <a:t>Sélection de sources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Montserrat" panose="00000500000000000000" pitchFamily="2" charset="0"/>
              </a:rPr>
              <a:t>actives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Montserrat" panose="00000500000000000000" pitchFamily="2" charset="0"/>
              </a:rPr>
              <a:t>reconnues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Montserrat" panose="00000500000000000000" pitchFamily="2" charset="0"/>
              </a:rPr>
              <a:t>régulièrement mises à jour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8562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1F5737-1DE1-B2AD-9EB6-4DE249F94A28}"/>
              </a:ext>
            </a:extLst>
          </p:cNvPr>
          <p:cNvSpPr>
            <a:spLocks noGrp="1"/>
          </p:cNvSpPr>
          <p:nvPr>
            <p:ph type="title"/>
          </p:nvPr>
        </p:nvSpPr>
        <p:spPr/>
        <p:txBody>
          <a:bodyPr>
            <a:normAutofit fontScale="90000"/>
          </a:bodyPr>
          <a:lstStyle/>
          <a:p>
            <a:r>
              <a:rPr lang="fr-FR" b="1" dirty="0">
                <a:latin typeface="Montserrat" panose="00000500000000000000" pitchFamily="2" charset="0"/>
              </a:rPr>
              <a:t>Veille technologique</a:t>
            </a:r>
          </a:p>
        </p:txBody>
      </p:sp>
      <p:sp>
        <p:nvSpPr>
          <p:cNvPr id="3" name="Espace réservé du texte 2">
            <a:extLst>
              <a:ext uri="{FF2B5EF4-FFF2-40B4-BE49-F238E27FC236}">
                <a16:creationId xmlns:a16="http://schemas.microsoft.com/office/drawing/2014/main" id="{A284CE2E-A400-AE0A-518E-CE985B6EEAA9}"/>
              </a:ext>
            </a:extLst>
          </p:cNvPr>
          <p:cNvSpPr>
            <a:spLocks noGrp="1"/>
          </p:cNvSpPr>
          <p:nvPr>
            <p:ph type="body" idx="1"/>
          </p:nvPr>
        </p:nvSpPr>
        <p:spPr/>
        <p:txBody>
          <a:bodyPr>
            <a:normAutofit lnSpcReduction="10000"/>
          </a:bodyPr>
          <a:lstStyle/>
          <a:p>
            <a:pPr marL="114300" indent="0">
              <a:buNone/>
            </a:pPr>
            <a:r>
              <a:rPr lang="fr-FR" b="1" dirty="0">
                <a:latin typeface="Montserrat" panose="00000500000000000000" pitchFamily="2" charset="0"/>
              </a:rPr>
              <a:t> </a:t>
            </a:r>
            <a:r>
              <a:rPr lang="fr-FR" b="1" dirty="0">
                <a:solidFill>
                  <a:schemeClr val="tx1"/>
                </a:solidFill>
                <a:latin typeface="Montserrat" panose="00000500000000000000" pitchFamily="2" charset="0"/>
              </a:rPr>
              <a:t>Axe 1 – Menu Maker </a:t>
            </a:r>
            <a:r>
              <a:rPr lang="fr-FR" dirty="0">
                <a:solidFill>
                  <a:schemeClr val="tx1"/>
                </a:solidFill>
                <a:latin typeface="Montserrat" panose="00000500000000000000" pitchFamily="2" charset="0"/>
              </a:rPr>
              <a:t>: exemple veille tech : </a:t>
            </a:r>
          </a:p>
          <a:p>
            <a:pPr marL="114300" indent="0">
              <a:buNone/>
            </a:pPr>
            <a:r>
              <a:rPr lang="fr-FR" dirty="0">
                <a:solidFill>
                  <a:schemeClr val="tx1"/>
                </a:solidFill>
                <a:latin typeface="Montserrat" panose="00000500000000000000" pitchFamily="2" charset="0"/>
              </a:rPr>
              <a:t>Frontend Weekly (Newsletter)</a:t>
            </a:r>
          </a:p>
          <a:p>
            <a:r>
              <a:rPr lang="fr-FR" dirty="0">
                <a:solidFill>
                  <a:schemeClr val="tx1"/>
                </a:solidFill>
                <a:latin typeface="Montserrat" panose="00000500000000000000" pitchFamily="2" charset="0"/>
              </a:rPr>
              <a:t>Veille spécialisée sur le développement </a:t>
            </a:r>
            <a:r>
              <a:rPr lang="fr-FR" dirty="0" err="1">
                <a:solidFill>
                  <a:schemeClr val="tx1"/>
                </a:solidFill>
                <a:latin typeface="Montserrat" panose="00000500000000000000" pitchFamily="2" charset="0"/>
              </a:rPr>
              <a:t>front-end</a:t>
            </a:r>
            <a:endParaRPr lang="fr-FR" dirty="0">
              <a:solidFill>
                <a:schemeClr val="tx1"/>
              </a:solidFill>
              <a:latin typeface="Montserrat" panose="00000500000000000000" pitchFamily="2" charset="0"/>
            </a:endParaRPr>
          </a:p>
          <a:p>
            <a:r>
              <a:rPr lang="fr-FR" dirty="0">
                <a:solidFill>
                  <a:schemeClr val="tx1"/>
                </a:solidFill>
                <a:latin typeface="Montserrat" panose="00000500000000000000" pitchFamily="2" charset="0"/>
              </a:rPr>
              <a:t>Partage régulièrement des contenus sur </a:t>
            </a:r>
            <a:r>
              <a:rPr lang="fr-FR" dirty="0" err="1">
                <a:solidFill>
                  <a:schemeClr val="tx1"/>
                </a:solidFill>
                <a:latin typeface="Montserrat" panose="00000500000000000000" pitchFamily="2" charset="0"/>
              </a:rPr>
              <a:t>React</a:t>
            </a:r>
            <a:r>
              <a:rPr lang="fr-FR" dirty="0">
                <a:solidFill>
                  <a:schemeClr val="tx1"/>
                </a:solidFill>
                <a:latin typeface="Montserrat" panose="00000500000000000000" pitchFamily="2" charset="0"/>
              </a:rPr>
              <a:t>, JavaScript, UI/UX</a:t>
            </a:r>
          </a:p>
          <a:p>
            <a:r>
              <a:rPr lang="fr-FR" dirty="0">
                <a:solidFill>
                  <a:schemeClr val="tx1"/>
                </a:solidFill>
                <a:latin typeface="Montserrat" panose="00000500000000000000" pitchFamily="2" charset="0"/>
              </a:rPr>
              <a:t>Articles sélectionnés et synthétiques</a:t>
            </a:r>
          </a:p>
          <a:p>
            <a:r>
              <a:rPr lang="fr-FR" dirty="0">
                <a:solidFill>
                  <a:schemeClr val="tx1"/>
                </a:solidFill>
                <a:latin typeface="Montserrat" panose="00000500000000000000" pitchFamily="2" charset="0"/>
              </a:rPr>
              <a:t>Utile pour suivre les bonnes pratiques et orienter les choix techniques du projet Menu Maker</a:t>
            </a:r>
          </a:p>
          <a:p>
            <a:pPr marL="114300" indent="0">
              <a:buNone/>
            </a:pPr>
            <a:endParaRPr lang="fr-FR" dirty="0">
              <a:solidFill>
                <a:schemeClr val="tx1"/>
              </a:solidFill>
              <a:latin typeface="Montserrat" panose="00000500000000000000" pitchFamily="2" charset="0"/>
            </a:endParaRPr>
          </a:p>
          <a:p>
            <a:pPr marL="114300" indent="0">
              <a:buNone/>
            </a:pPr>
            <a:r>
              <a:rPr lang="fr-FR" b="1" dirty="0">
                <a:solidFill>
                  <a:schemeClr val="tx1"/>
                </a:solidFill>
                <a:latin typeface="Montserrat" panose="00000500000000000000" pitchFamily="2" charset="0"/>
              </a:rPr>
              <a:t>Axe 2 – Veille web générale</a:t>
            </a:r>
            <a:r>
              <a:rPr lang="fr-FR" dirty="0">
                <a:solidFill>
                  <a:schemeClr val="tx1"/>
                </a:solidFill>
                <a:latin typeface="Montserrat" panose="00000500000000000000" pitchFamily="2" charset="0"/>
              </a:rPr>
              <a:t> exemple veille tech : </a:t>
            </a:r>
          </a:p>
          <a:p>
            <a:pPr marL="114300" indent="0">
              <a:buNone/>
            </a:pPr>
            <a:r>
              <a:rPr lang="fr-FR" dirty="0">
                <a:solidFill>
                  <a:schemeClr val="tx1"/>
                </a:solidFill>
                <a:latin typeface="Montserrat" panose="00000500000000000000" pitchFamily="2" charset="0"/>
              </a:rPr>
              <a:t>MDN Web Docs Référence officielle du </a:t>
            </a:r>
            <a:r>
              <a:rPr lang="fr-FR" dirty="0" err="1">
                <a:solidFill>
                  <a:schemeClr val="tx1"/>
                </a:solidFill>
                <a:latin typeface="Montserrat" panose="00000500000000000000" pitchFamily="2" charset="0"/>
              </a:rPr>
              <a:t>webFiable</a:t>
            </a:r>
            <a:r>
              <a:rPr lang="fr-FR" dirty="0">
                <a:solidFill>
                  <a:schemeClr val="tx1"/>
                </a:solidFill>
                <a:latin typeface="Montserrat" panose="00000500000000000000" pitchFamily="2" charset="0"/>
              </a:rPr>
              <a:t> pour HTML, CSS, JavaScript Utile pour l’accessibilité et les bonnes pratiques</a:t>
            </a:r>
          </a:p>
        </p:txBody>
      </p:sp>
    </p:spTree>
    <p:extLst>
      <p:ext uri="{BB962C8B-B14F-4D97-AF65-F5344CB8AC3E}">
        <p14:creationId xmlns:p14="http://schemas.microsoft.com/office/powerpoint/2010/main" val="2048957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C9DE09-CB43-BD5B-6998-5910676FFCBB}"/>
              </a:ext>
            </a:extLst>
          </p:cNvPr>
          <p:cNvSpPr>
            <a:spLocks noGrp="1"/>
          </p:cNvSpPr>
          <p:nvPr>
            <p:ph type="title"/>
          </p:nvPr>
        </p:nvSpPr>
        <p:spPr/>
        <p:txBody>
          <a:bodyPr>
            <a:normAutofit fontScale="90000"/>
          </a:bodyPr>
          <a:lstStyle/>
          <a:p>
            <a:r>
              <a:rPr lang="fr-FR" dirty="0">
                <a:latin typeface="Montserrat" panose="00000500000000000000" pitchFamily="2" charset="0"/>
              </a:rPr>
              <a:t>Veille technologique</a:t>
            </a:r>
          </a:p>
        </p:txBody>
      </p:sp>
      <p:sp>
        <p:nvSpPr>
          <p:cNvPr id="3" name="Espace réservé du texte 2">
            <a:extLst>
              <a:ext uri="{FF2B5EF4-FFF2-40B4-BE49-F238E27FC236}">
                <a16:creationId xmlns:a16="http://schemas.microsoft.com/office/drawing/2014/main" id="{0C9A6D80-3B2D-5D75-B640-4E74A3D0E2DE}"/>
              </a:ext>
            </a:extLst>
          </p:cNvPr>
          <p:cNvSpPr>
            <a:spLocks noGrp="1"/>
          </p:cNvSpPr>
          <p:nvPr>
            <p:ph type="body" idx="1"/>
          </p:nvPr>
        </p:nvSpPr>
        <p:spPr/>
        <p:txBody>
          <a:bodyPr>
            <a:normAutofit/>
          </a:bodyPr>
          <a:lstStyle/>
          <a:p>
            <a:r>
              <a:rPr lang="fr-FR" sz="1600" dirty="0">
                <a:latin typeface="Montserrat" panose="00000500000000000000" pitchFamily="2" charset="0"/>
              </a:rPr>
              <a:t>La veille a permis de :</a:t>
            </a:r>
          </a:p>
          <a:p>
            <a:pPr lvl="1"/>
            <a:r>
              <a:rPr lang="fr-FR" sz="1600" dirty="0">
                <a:latin typeface="Montserrat" panose="00000500000000000000" pitchFamily="2" charset="0"/>
              </a:rPr>
              <a:t>confirmer le choix de </a:t>
            </a:r>
            <a:r>
              <a:rPr lang="fr-FR" sz="1600" dirty="0" err="1">
                <a:latin typeface="Montserrat" panose="00000500000000000000" pitchFamily="2" charset="0"/>
              </a:rPr>
              <a:t>React</a:t>
            </a:r>
            <a:r>
              <a:rPr lang="fr-FR" sz="1600" dirty="0">
                <a:latin typeface="Montserrat" panose="00000500000000000000" pitchFamily="2" charset="0"/>
              </a:rPr>
              <a:t> pour le </a:t>
            </a:r>
            <a:r>
              <a:rPr lang="fr-FR" sz="1600" dirty="0" err="1">
                <a:latin typeface="Montserrat" panose="00000500000000000000" pitchFamily="2" charset="0"/>
              </a:rPr>
              <a:t>front-end</a:t>
            </a:r>
            <a:endParaRPr lang="fr-FR" sz="1600" dirty="0">
              <a:latin typeface="Montserrat" panose="00000500000000000000" pitchFamily="2" charset="0"/>
            </a:endParaRPr>
          </a:p>
          <a:p>
            <a:pPr lvl="1"/>
            <a:r>
              <a:rPr lang="fr-FR" sz="1600" dirty="0">
                <a:latin typeface="Montserrat" panose="00000500000000000000" pitchFamily="2" charset="0"/>
              </a:rPr>
              <a:t>valider l’utilisation d’une API REST avec Express</a:t>
            </a:r>
          </a:p>
          <a:p>
            <a:pPr lvl="1"/>
            <a:r>
              <a:rPr lang="fr-FR" sz="1600" dirty="0">
                <a:latin typeface="Montserrat" panose="00000500000000000000" pitchFamily="2" charset="0"/>
              </a:rPr>
              <a:t>choisir MongoDB pour sa flexibilité</a:t>
            </a:r>
          </a:p>
          <a:p>
            <a:pPr lvl="1"/>
            <a:r>
              <a:rPr lang="fr-FR" sz="1600" dirty="0">
                <a:latin typeface="Montserrat" panose="00000500000000000000" pitchFamily="2" charset="0"/>
              </a:rPr>
              <a:t>intégrer des bonnes pratiques de sécurité (JWT, </a:t>
            </a:r>
            <a:r>
              <a:rPr lang="fr-FR" sz="1600" dirty="0" err="1">
                <a:latin typeface="Montserrat" panose="00000500000000000000" pitchFamily="2" charset="0"/>
              </a:rPr>
              <a:t>Helmet</a:t>
            </a:r>
            <a:r>
              <a:rPr lang="fr-FR" sz="1600" dirty="0">
                <a:latin typeface="Montserrat" panose="00000500000000000000" pitchFamily="2" charset="0"/>
              </a:rPr>
              <a:t>)</a:t>
            </a:r>
          </a:p>
          <a:p>
            <a:pPr marL="596900" lvl="1" indent="0">
              <a:buNone/>
            </a:pPr>
            <a:endParaRPr lang="fr-FR" sz="1600" dirty="0">
              <a:latin typeface="Montserrat" panose="00000500000000000000" pitchFamily="2" charset="0"/>
            </a:endParaRPr>
          </a:p>
          <a:p>
            <a:r>
              <a:rPr lang="fr-FR" sz="1600" dirty="0">
                <a:latin typeface="Montserrat" panose="00000500000000000000" pitchFamily="2" charset="0"/>
              </a:rPr>
              <a:t>Elle a aidé à :</a:t>
            </a:r>
          </a:p>
          <a:p>
            <a:pPr lvl="1"/>
            <a:r>
              <a:rPr lang="fr-FR" sz="1600" dirty="0">
                <a:latin typeface="Montserrat" panose="00000500000000000000" pitchFamily="2" charset="0"/>
              </a:rPr>
              <a:t>remplir les colonnes </a:t>
            </a:r>
            <a:r>
              <a:rPr lang="fr-FR" sz="1600" i="1" dirty="0">
                <a:latin typeface="Montserrat" panose="00000500000000000000" pitchFamily="2" charset="0"/>
              </a:rPr>
              <a:t>Solution</a:t>
            </a:r>
            <a:r>
              <a:rPr lang="fr-FR" sz="1600" dirty="0">
                <a:latin typeface="Montserrat" panose="00000500000000000000" pitchFamily="2" charset="0"/>
              </a:rPr>
              <a:t> et </a:t>
            </a:r>
            <a:r>
              <a:rPr lang="fr-FR" sz="1600" i="1" dirty="0">
                <a:latin typeface="Montserrat" panose="00000500000000000000" pitchFamily="2" charset="0"/>
              </a:rPr>
              <a:t>Justification</a:t>
            </a:r>
            <a:endParaRPr lang="fr-FR" sz="1600" dirty="0">
              <a:latin typeface="Montserrat" panose="00000500000000000000" pitchFamily="2" charset="0"/>
            </a:endParaRPr>
          </a:p>
          <a:p>
            <a:pPr lvl="1"/>
            <a:r>
              <a:rPr lang="fr-FR" sz="1600" dirty="0">
                <a:latin typeface="Montserrat" panose="00000500000000000000" pitchFamily="2" charset="0"/>
              </a:rPr>
              <a:t>faire des choix cohérents et actuels</a:t>
            </a:r>
          </a:p>
          <a:p>
            <a:pPr lvl="1"/>
            <a:r>
              <a:rPr lang="fr-FR" sz="1600" dirty="0">
                <a:latin typeface="Montserrat" panose="00000500000000000000" pitchFamily="2" charset="0"/>
              </a:rPr>
              <a:t>réduire les risques techniques</a:t>
            </a:r>
          </a:p>
          <a:p>
            <a:endParaRPr lang="fr-FR" dirty="0"/>
          </a:p>
        </p:txBody>
      </p:sp>
    </p:spTree>
    <p:extLst>
      <p:ext uri="{BB962C8B-B14F-4D97-AF65-F5344CB8AC3E}">
        <p14:creationId xmlns:p14="http://schemas.microsoft.com/office/powerpoint/2010/main" val="2932126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fr" sz="2000" b="1" dirty="0">
                <a:latin typeface="Montserrat"/>
                <a:ea typeface="Montserrat"/>
                <a:cs typeface="Montserrat"/>
                <a:sym typeface="Montserrat"/>
              </a:rPr>
              <a:t>Conclusion</a:t>
            </a:r>
            <a:endParaRPr sz="2000" b="1" dirty="0">
              <a:solidFill>
                <a:schemeClr val="dk2"/>
              </a:solidFill>
              <a:latin typeface="Montserrat"/>
              <a:ea typeface="Montserrat"/>
              <a:cs typeface="Montserrat"/>
              <a:sym typeface="Montserrat"/>
            </a:endParaRPr>
          </a:p>
        </p:txBody>
      </p:sp>
      <p:sp>
        <p:nvSpPr>
          <p:cNvPr id="122" name="Google Shape;122;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latin typeface="Montserrat"/>
              <a:ea typeface="Montserrat"/>
              <a:cs typeface="Montserrat"/>
              <a:sym typeface="Montserrat"/>
            </a:endParaRPr>
          </a:p>
          <a:p>
            <a:pPr marL="0" lvl="0" indent="0" algn="l" rtl="0">
              <a:spcBef>
                <a:spcPts val="1200"/>
              </a:spcBef>
              <a:spcAft>
                <a:spcPts val="0"/>
              </a:spcAft>
              <a:buNone/>
            </a:pPr>
            <a:endParaRPr>
              <a:latin typeface="Montserrat"/>
              <a:ea typeface="Montserrat"/>
              <a:cs typeface="Montserrat"/>
              <a:sym typeface="Montserrat"/>
            </a:endParaRPr>
          </a:p>
          <a:p>
            <a:pPr marL="457200" lvl="0" indent="0" algn="l" rtl="0">
              <a:spcBef>
                <a:spcPts val="1200"/>
              </a:spcBef>
              <a:spcAft>
                <a:spcPts val="1200"/>
              </a:spcAft>
              <a:buNone/>
            </a:pPr>
            <a:endParaRPr>
              <a:latin typeface="Montserrat"/>
              <a:ea typeface="Montserrat"/>
              <a:cs typeface="Montserrat"/>
              <a:sym typeface="Montserrat"/>
            </a:endParaRPr>
          </a:p>
        </p:txBody>
      </p:sp>
      <p:sp>
        <p:nvSpPr>
          <p:cNvPr id="123" name="Google Shape;123;p21"/>
          <p:cNvSpPr txBox="1"/>
          <p:nvPr/>
        </p:nvSpPr>
        <p:spPr>
          <a:xfrm>
            <a:off x="0" y="0"/>
            <a:ext cx="49116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fr" sz="1000">
                <a:solidFill>
                  <a:schemeClr val="dk2"/>
                </a:solidFill>
                <a:latin typeface="Montserrat"/>
                <a:ea typeface="Montserrat"/>
                <a:cs typeface="Montserrat"/>
                <a:sym typeface="Montserrat"/>
              </a:rPr>
              <a:t>Présentation de l’usage du no-code</a:t>
            </a:r>
            <a:endParaRPr sz="1000"/>
          </a:p>
        </p:txBody>
      </p:sp>
      <p:sp>
        <p:nvSpPr>
          <p:cNvPr id="124" name="Google Shape;124;p21"/>
          <p:cNvSpPr txBox="1"/>
          <p:nvPr/>
        </p:nvSpPr>
        <p:spPr>
          <a:xfrm>
            <a:off x="434775" y="1085525"/>
            <a:ext cx="8320500" cy="4062620"/>
          </a:xfrm>
          <a:prstGeom prst="rect">
            <a:avLst/>
          </a:prstGeom>
          <a:noFill/>
          <a:ln>
            <a:noFill/>
          </a:ln>
        </p:spPr>
        <p:txBody>
          <a:bodyPr spcFirstLastPara="1" wrap="square" lIns="91425" tIns="91425" rIns="91425" bIns="91425" anchor="t" anchorCtr="0">
            <a:spAutoFit/>
          </a:bodyPr>
          <a:lstStyle/>
          <a:p>
            <a:r>
              <a:rPr lang="fr-FR" sz="1800" b="1" dirty="0">
                <a:latin typeface="Montserrat" panose="00000500000000000000" pitchFamily="2" charset="0"/>
              </a:rPr>
              <a:t>Points clés du projet Menu Maker</a:t>
            </a:r>
          </a:p>
          <a:p>
            <a:pPr marL="285750" indent="-285750">
              <a:buFont typeface="Arial" panose="020B0604020202020204" pitchFamily="34" charset="0"/>
              <a:buChar char="•"/>
            </a:pPr>
            <a:r>
              <a:rPr lang="fr-FR" dirty="0">
                <a:latin typeface="Montserrat" panose="00000500000000000000" pitchFamily="2" charset="0"/>
              </a:rPr>
              <a:t>Compréhension claire du besoin client : outil simple pour créer et gérer des menus</a:t>
            </a:r>
          </a:p>
          <a:p>
            <a:pPr marL="285750" indent="-285750">
              <a:buFont typeface="Arial" panose="020B0604020202020204" pitchFamily="34" charset="0"/>
              <a:buChar char="•"/>
            </a:pPr>
            <a:r>
              <a:rPr lang="fr-FR" dirty="0">
                <a:latin typeface="Montserrat" panose="00000500000000000000" pitchFamily="2" charset="0"/>
              </a:rPr>
              <a:t>Mise en place d’une méthodologie Agile (Scrum) pour un développement flexible et progressif</a:t>
            </a:r>
          </a:p>
          <a:p>
            <a:pPr marL="285750" indent="-285750">
              <a:buFont typeface="Arial" panose="020B0604020202020204" pitchFamily="34" charset="0"/>
              <a:buChar char="•"/>
            </a:pPr>
            <a:r>
              <a:rPr lang="fr-FR" dirty="0">
                <a:latin typeface="Montserrat" panose="00000500000000000000" pitchFamily="2" charset="0"/>
              </a:rPr>
              <a:t>Organisation du projet via un Kanban sur Notion avec user stories, tâches et priorités</a:t>
            </a:r>
          </a:p>
          <a:p>
            <a:pPr marL="285750" indent="-285750">
              <a:buFont typeface="Arial" panose="020B0604020202020204" pitchFamily="34" charset="0"/>
              <a:buChar char="•"/>
            </a:pPr>
            <a:r>
              <a:rPr lang="fr-FR" dirty="0">
                <a:latin typeface="Montserrat" panose="00000500000000000000" pitchFamily="2" charset="0"/>
              </a:rPr>
              <a:t>Choix d’une architecture moderne </a:t>
            </a:r>
            <a:r>
              <a:rPr lang="fr-FR" dirty="0" err="1">
                <a:latin typeface="Montserrat" panose="00000500000000000000" pitchFamily="2" charset="0"/>
              </a:rPr>
              <a:t>front-end</a:t>
            </a:r>
            <a:r>
              <a:rPr lang="fr-FR" dirty="0">
                <a:latin typeface="Montserrat" panose="00000500000000000000" pitchFamily="2" charset="0"/>
              </a:rPr>
              <a:t> / </a:t>
            </a:r>
            <a:r>
              <a:rPr lang="fr-FR" dirty="0" err="1">
                <a:latin typeface="Montserrat" panose="00000500000000000000" pitchFamily="2" charset="0"/>
              </a:rPr>
              <a:t>back-end</a:t>
            </a:r>
            <a:r>
              <a:rPr lang="fr-FR" dirty="0">
                <a:latin typeface="Montserrat" panose="00000500000000000000" pitchFamily="2" charset="0"/>
              </a:rPr>
              <a:t> séparée</a:t>
            </a:r>
          </a:p>
          <a:p>
            <a:pPr marL="285750" indent="-285750">
              <a:buFont typeface="Arial" panose="020B0604020202020204" pitchFamily="34" charset="0"/>
              <a:buChar char="•"/>
            </a:pPr>
            <a:r>
              <a:rPr lang="fr-FR" dirty="0">
                <a:latin typeface="Montserrat" panose="00000500000000000000" pitchFamily="2" charset="0"/>
              </a:rPr>
              <a:t>Utilisation de technologies adaptées :</a:t>
            </a:r>
          </a:p>
          <a:p>
            <a:pPr marL="285750" lvl="1" indent="-285750">
              <a:buFont typeface="Arial" panose="020B0604020202020204" pitchFamily="34" charset="0"/>
              <a:buChar char="•"/>
            </a:pPr>
            <a:r>
              <a:rPr lang="fr-FR" dirty="0" err="1">
                <a:latin typeface="Montserrat" panose="00000500000000000000" pitchFamily="2" charset="0"/>
              </a:rPr>
              <a:t>React</a:t>
            </a:r>
            <a:r>
              <a:rPr lang="fr-FR" dirty="0">
                <a:latin typeface="Montserrat" panose="00000500000000000000" pitchFamily="2" charset="0"/>
              </a:rPr>
              <a:t> pour le </a:t>
            </a:r>
            <a:r>
              <a:rPr lang="fr-FR" dirty="0" err="1">
                <a:latin typeface="Montserrat" panose="00000500000000000000" pitchFamily="2" charset="0"/>
              </a:rPr>
              <a:t>front-end</a:t>
            </a:r>
            <a:endParaRPr lang="fr-FR" dirty="0">
              <a:latin typeface="Montserrat" panose="00000500000000000000" pitchFamily="2" charset="0"/>
            </a:endParaRPr>
          </a:p>
          <a:p>
            <a:pPr marL="285750" lvl="1" indent="-285750">
              <a:buFont typeface="Arial" panose="020B0604020202020204" pitchFamily="34" charset="0"/>
              <a:buChar char="•"/>
            </a:pPr>
            <a:r>
              <a:rPr lang="fr-FR" dirty="0">
                <a:latin typeface="Montserrat" panose="00000500000000000000" pitchFamily="2" charset="0"/>
              </a:rPr>
              <a:t>Express / Node.js pour l’API</a:t>
            </a:r>
          </a:p>
          <a:p>
            <a:pPr marL="285750" lvl="1" indent="-285750">
              <a:buFont typeface="Arial" panose="020B0604020202020204" pitchFamily="34" charset="0"/>
              <a:buChar char="•"/>
            </a:pPr>
            <a:r>
              <a:rPr lang="fr-FR" dirty="0">
                <a:latin typeface="Montserrat" panose="00000500000000000000" pitchFamily="2" charset="0"/>
              </a:rPr>
              <a:t>MongoDB pour la gestion des données</a:t>
            </a:r>
          </a:p>
          <a:p>
            <a:pPr marL="285750" indent="-285750">
              <a:buFont typeface="Arial" panose="020B0604020202020204" pitchFamily="34" charset="0"/>
              <a:buChar char="•"/>
            </a:pPr>
            <a:r>
              <a:rPr lang="fr-FR" dirty="0">
                <a:latin typeface="Montserrat" panose="00000500000000000000" pitchFamily="2" charset="0"/>
              </a:rPr>
              <a:t>Mise en place d’un système de veille technique pour guider les choix technologiques</a:t>
            </a:r>
          </a:p>
          <a:p>
            <a:pPr marL="285750" indent="-285750">
              <a:buFont typeface="Arial" panose="020B0604020202020204" pitchFamily="34" charset="0"/>
              <a:buChar char="•"/>
            </a:pPr>
            <a:r>
              <a:rPr lang="fr-FR" dirty="0">
                <a:latin typeface="Montserrat" panose="00000500000000000000" pitchFamily="2" charset="0"/>
              </a:rPr>
              <a:t>Prise en compte des aspects clés :</a:t>
            </a:r>
          </a:p>
          <a:p>
            <a:pPr marL="285750" lvl="1" indent="-285750">
              <a:buFont typeface="Arial" panose="020B0604020202020204" pitchFamily="34" charset="0"/>
              <a:buChar char="•"/>
            </a:pPr>
            <a:r>
              <a:rPr lang="fr-FR" dirty="0">
                <a:latin typeface="Montserrat" panose="00000500000000000000" pitchFamily="2" charset="0"/>
              </a:rPr>
              <a:t>sécurité</a:t>
            </a:r>
          </a:p>
          <a:p>
            <a:pPr marL="285750" lvl="1" indent="-285750">
              <a:buFont typeface="Arial" panose="020B0604020202020204" pitchFamily="34" charset="0"/>
              <a:buChar char="•"/>
            </a:pPr>
            <a:r>
              <a:rPr lang="fr-FR" dirty="0">
                <a:latin typeface="Montserrat" panose="00000500000000000000" pitchFamily="2" charset="0"/>
              </a:rPr>
              <a:t>accessibilité</a:t>
            </a:r>
          </a:p>
          <a:p>
            <a:pPr marL="285750" lvl="1" indent="-285750">
              <a:buFont typeface="Arial" panose="020B0604020202020204" pitchFamily="34" charset="0"/>
              <a:buChar char="•"/>
            </a:pPr>
            <a:r>
              <a:rPr lang="fr-FR" dirty="0">
                <a:latin typeface="Montserrat" panose="00000500000000000000" pitchFamily="2" charset="0"/>
              </a:rPr>
              <a:t>maintenance et évolutivité</a:t>
            </a:r>
          </a:p>
          <a:p>
            <a:pPr marL="285750" indent="-285750">
              <a:buFont typeface="Arial" panose="020B0604020202020204" pitchFamily="34" charset="0"/>
              <a:buChar char="•"/>
            </a:pPr>
            <a:r>
              <a:rPr lang="fr-FR" dirty="0">
                <a:latin typeface="Montserrat" panose="00000500000000000000" pitchFamily="2" charset="0"/>
              </a:rPr>
              <a:t>Projet structuré, évolutif et prêt à être présenté au client</a:t>
            </a:r>
          </a:p>
          <a:p>
            <a:pPr marL="0" lvl="0" indent="0" algn="l" rtl="0">
              <a:spcBef>
                <a:spcPts val="1200"/>
              </a:spcBef>
              <a:spcAft>
                <a:spcPts val="0"/>
              </a:spcAft>
              <a:buNone/>
            </a:pPr>
            <a:endParaRPr dirty="0"/>
          </a:p>
        </p:txBody>
      </p:sp>
      <p:sp>
        <p:nvSpPr>
          <p:cNvPr id="125" name="Google Shape;125;p21"/>
          <p:cNvSpPr/>
          <p:nvPr/>
        </p:nvSpPr>
        <p:spPr>
          <a:xfrm>
            <a:off x="-4800" y="0"/>
            <a:ext cx="9153600" cy="239700"/>
          </a:xfrm>
          <a:prstGeom prst="rect">
            <a:avLst/>
          </a:prstGeom>
          <a:solidFill>
            <a:srgbClr val="FCE5CD"/>
          </a:solidFill>
          <a:ln w="9525" cap="flat" cmpd="sng">
            <a:solidFill>
              <a:srgbClr val="F7E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26" name="Google Shape;126;p21"/>
          <p:cNvPicPr preferRelativeResize="0"/>
          <p:nvPr/>
        </p:nvPicPr>
        <p:blipFill>
          <a:blip r:embed="rId3">
            <a:alphaModFix/>
          </a:blip>
          <a:stretch>
            <a:fillRect/>
          </a:stretch>
        </p:blipFill>
        <p:spPr>
          <a:xfrm>
            <a:off x="8469575" y="-4"/>
            <a:ext cx="674425" cy="3405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E5CD"/>
        </a:solidFill>
        <a:effectLst/>
      </p:bgPr>
    </p:bg>
    <p:spTree>
      <p:nvGrpSpPr>
        <p:cNvPr id="1" name="Shape 130"/>
        <p:cNvGrpSpPr/>
        <p:nvPr/>
      </p:nvGrpSpPr>
      <p:grpSpPr>
        <a:xfrm>
          <a:off x="0" y="0"/>
          <a:ext cx="0" cy="0"/>
          <a:chOff x="0" y="0"/>
          <a:chExt cx="0" cy="0"/>
        </a:xfrm>
      </p:grpSpPr>
      <p:sp>
        <p:nvSpPr>
          <p:cNvPr id="131" name="Google Shape;131;p22"/>
          <p:cNvSpPr txBox="1"/>
          <p:nvPr/>
        </p:nvSpPr>
        <p:spPr>
          <a:xfrm>
            <a:off x="2411475" y="2125800"/>
            <a:ext cx="4222200" cy="80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 sz="3500">
                <a:solidFill>
                  <a:schemeClr val="dk1"/>
                </a:solidFill>
                <a:latin typeface="Montserrat"/>
                <a:ea typeface="Montserrat"/>
                <a:cs typeface="Montserrat"/>
                <a:sym typeface="Montserrat"/>
              </a:rPr>
              <a:t>QUESTIONS ?</a:t>
            </a:r>
            <a:endParaRPr sz="3500">
              <a:solidFill>
                <a:schemeClr val="dk1"/>
              </a:solidFill>
              <a:latin typeface="Montserrat"/>
              <a:ea typeface="Montserrat"/>
              <a:cs typeface="Montserrat"/>
              <a:sym typeface="Montserrat"/>
            </a:endParaRPr>
          </a:p>
        </p:txBody>
      </p:sp>
      <p:sp>
        <p:nvSpPr>
          <p:cNvPr id="132" name="Google Shape;132;p22"/>
          <p:cNvSpPr txBox="1"/>
          <p:nvPr/>
        </p:nvSpPr>
        <p:spPr>
          <a:xfrm>
            <a:off x="115175" y="118275"/>
            <a:ext cx="2384700" cy="28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500">
              <a:solidFill>
                <a:schemeClr val="dk1"/>
              </a:solidFill>
              <a:latin typeface="Montserrat"/>
              <a:ea typeface="Montserrat"/>
              <a:cs typeface="Montserrat"/>
              <a:sym typeface="Montserrat"/>
            </a:endParaRPr>
          </a:p>
        </p:txBody>
      </p:sp>
      <p:pic>
        <p:nvPicPr>
          <p:cNvPr id="133" name="Google Shape;133;p22"/>
          <p:cNvPicPr preferRelativeResize="0"/>
          <p:nvPr/>
        </p:nvPicPr>
        <p:blipFill>
          <a:blip r:embed="rId3">
            <a:alphaModFix/>
          </a:blip>
          <a:stretch>
            <a:fillRect/>
          </a:stretch>
        </p:blipFill>
        <p:spPr>
          <a:xfrm>
            <a:off x="8469575" y="-4"/>
            <a:ext cx="674425" cy="3405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TotalTime>
  <Words>1010</Words>
  <Application>Microsoft Office PowerPoint</Application>
  <PresentationFormat>Affichage à l'écran (16:9)</PresentationFormat>
  <Paragraphs>151</Paragraphs>
  <Slides>18</Slides>
  <Notes>10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18</vt:i4>
      </vt:variant>
    </vt:vector>
  </HeadingPairs>
  <TitlesOfParts>
    <vt:vector size="21" baseType="lpstr">
      <vt:lpstr>Arial</vt:lpstr>
      <vt:lpstr>Montserrat</vt:lpstr>
      <vt:lpstr>Simple Light</vt:lpstr>
      <vt:lpstr>Présentation PowerPoint</vt:lpstr>
      <vt:lpstr>Sommaire</vt:lpstr>
      <vt:lpstr>Contexte du Projet</vt:lpstr>
      <vt:lpstr>Aperçu de la maquette </vt:lpstr>
      <vt:lpstr>Méthodologie utilisée : Agile </vt:lpstr>
      <vt:lpstr>Suivi du projet avec le Kanban</vt:lpstr>
      <vt:lpstr>Suivi du projet Kanban (Screenshot)</vt:lpstr>
      <vt:lpstr>Suivi du projet avec le Kanban</vt:lpstr>
      <vt:lpstr>Spécifications techniques</vt:lpstr>
      <vt:lpstr>Schéma explicatif</vt:lpstr>
      <vt:lpstr>Veille Technologique</vt:lpstr>
      <vt:lpstr>Captures d’écran de la veille  </vt:lpstr>
      <vt:lpstr>Veille technologique</vt:lpstr>
      <vt:lpstr>Veille Technologique</vt:lpstr>
      <vt:lpstr>Veille technologique</vt:lpstr>
      <vt:lpstr>Veille technologique</vt:lpstr>
      <vt:lpstr>Conclusion</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Madane AROUL</cp:lastModifiedBy>
  <cp:revision>56</cp:revision>
  <dcterms:modified xsi:type="dcterms:W3CDTF">2026-01-31T13:15:12Z</dcterms:modified>
</cp:coreProperties>
</file>